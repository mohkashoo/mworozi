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2945A7D-D623-4AE6-A2DA-2C5AA466F59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'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if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ACDB20-77EB-49E0-8DC9-222DFDB162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"In rural Rwanda, a midwife might see 50 babies a day. She has a stethoscope and a thermometer. But she can't tell if a cry means 'I'm hungry' or 'I can't breathe.' We give her that superpower."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18D7DF-1B54-4AA9-9327-9F2DB1D3F5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"The midwife opens the app. She presses record. The baby cries for 2 seconds. Our system runs a real trained model and returns one of four alert levels — stable, moderate, high or critical — based on vitals and the acoustic score. If it's high or critical, it also writes the referral letter to the hospital automatically."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84DC78-D00F-4D7D-A85F-EB8E56DCAE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"We have two AIs. Tier 1 runs on the laptop itself — no internet. It's a Random Forest trained on 1,267 cries, most of them real recordings, and it outputs a risk score. Tier 2 only runs if that score is elevated — it calls Google Gemini to write the full medical report, or falls back to an 8-rule clinical engine if there's no internet. This saves internet cost and works even in offline areas."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6112F0-42A9-4B99-A119-E79F4E1BCC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"When a baby cries, we extract 36 different measurements from the sound — like a fingerprint. A normal cry has a steady, stable pitch. A distress cry is volatile, with sudden jumps. The model is trained on 1,267 cries — 845 of them real recordings from a public infant-cry dataset, plus synthetic distress cries to balance the classes — and we've validated it separately against 22 real audio recordings. That's real data and real testing, though a full hospital trial is still the next step. When it flags elevated risk, Gemini writes the medical report — exactly like a doctor would."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DBFC3A-82D9-4010-9F4C-AB3314FCED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"The demo has a special feature. If the room is noisy — which happens at hackathons! — we have test profiles. They're pre-loaded with perfect audio data. So the demo never fails. Watch what happens with a normal cry... and watch what happens with a distress cry."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E07864-30EB-4726-A8BF-ADB7636B9A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"We're not building a startup. We're building a tool that costs nothing, runs anywhere, and saves lives. Every laptop that runs this app can help a midwife save a baby tonight."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28EE80-4E42-41CD-8AA0-91CE374C2F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"This is version 1. The acoustic engine already works — the next step is going multi-class. Our training dataset already has labels for hunger, discomfort, tired and more, so we don't need new data to start, just a different classifier: a CNN on mel-spectrograms instead of Random Forest on hand-picked features. With a real clinical data partnership, that's how we'd get from 'distress or not' to 'hunger vs pain vs respiratory distress.' The architecture already supports it — we'd put it on phones, validate it in real clinics, and teach it more cry patterns. But even today, it works. And it saves lives."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89EB29-0311-48AF-988E-2D7816D6BD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Closing slide — invite questions.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39FC5E-D153-4B6B-8024-788A728424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4.pn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5997600"/>
            <a:ext cx="118440" cy="5317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264960" y="5970960"/>
            <a:ext cx="118440" cy="5842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29920" y="6138000"/>
            <a:ext cx="118440" cy="2505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95240" y="6089760"/>
            <a:ext cx="118440" cy="3466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060200" y="6015240"/>
            <a:ext cx="118440" cy="4960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325160" y="5991480"/>
            <a:ext cx="118440" cy="5436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590120" y="6152040"/>
            <a:ext cx="118440" cy="2228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855080" y="5851800"/>
            <a:ext cx="118440" cy="8229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2120400" y="5960520"/>
            <a:ext cx="118440" cy="6058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2385360" y="6027480"/>
            <a:ext cx="118440" cy="4719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2650320" y="6074640"/>
            <a:ext cx="118440" cy="377280"/>
          </a:xfrm>
          <a:prstGeom prst="roundRect">
            <a:avLst>
              <a:gd name="adj" fmla="val 50000"/>
            </a:avLst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2915280" y="5888520"/>
            <a:ext cx="118440" cy="7495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180600" y="5934960"/>
            <a:ext cx="118440" cy="6570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445560" y="6152760"/>
            <a:ext cx="118440" cy="2214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3710520" y="5994360"/>
            <a:ext cx="118440" cy="5378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3975480" y="6093360"/>
            <a:ext cx="118440" cy="3402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4240440" y="5929560"/>
            <a:ext cx="118440" cy="6678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4505760" y="6122160"/>
            <a:ext cx="118440" cy="2822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4770720" y="5971320"/>
            <a:ext cx="118440" cy="5839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5035680" y="5998680"/>
            <a:ext cx="118440" cy="5292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5300640" y="6115320"/>
            <a:ext cx="118440" cy="2959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5565600" y="6162480"/>
            <a:ext cx="118440" cy="2012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5830920" y="5829120"/>
            <a:ext cx="118440" cy="867960"/>
          </a:xfrm>
          <a:prstGeom prst="roundRect">
            <a:avLst>
              <a:gd name="adj" fmla="val 50000"/>
            </a:avLst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6095880" y="5817600"/>
            <a:ext cx="118440" cy="8910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6360840" y="6136200"/>
            <a:ext cx="118440" cy="2545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6625800" y="6014880"/>
            <a:ext cx="118440" cy="4968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891120" y="5823000"/>
            <a:ext cx="118440" cy="8805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7156080" y="6110280"/>
            <a:ext cx="118440" cy="3056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7421040" y="6024240"/>
            <a:ext cx="118440" cy="4780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7686000" y="5974920"/>
            <a:ext cx="118440" cy="5763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7950960" y="5929560"/>
            <a:ext cx="118440" cy="6678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8216280" y="6076080"/>
            <a:ext cx="118440" cy="3744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8481240" y="6117480"/>
            <a:ext cx="118440" cy="2916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8746200" y="5811840"/>
            <a:ext cx="118440" cy="9028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9011160" y="6014160"/>
            <a:ext cx="118440" cy="497880"/>
          </a:xfrm>
          <a:prstGeom prst="roundRect">
            <a:avLst>
              <a:gd name="adj" fmla="val 50000"/>
            </a:avLst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9276120" y="6094080"/>
            <a:ext cx="118440" cy="3384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9541440" y="5976360"/>
            <a:ext cx="118440" cy="5742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9806400" y="6057360"/>
            <a:ext cx="118440" cy="4114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10071360" y="6123600"/>
            <a:ext cx="118440" cy="2790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10336320" y="5891760"/>
            <a:ext cx="118440" cy="7434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10601640" y="6049440"/>
            <a:ext cx="118440" cy="4276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10866600" y="6050160"/>
            <a:ext cx="118440" cy="4262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11131560" y="6151320"/>
            <a:ext cx="118440" cy="2235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11396520" y="5834160"/>
            <a:ext cx="118440" cy="8582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11661480" y="6091920"/>
            <a:ext cx="118440" cy="3427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11926800" y="5850000"/>
            <a:ext cx="118440" cy="8269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0" y="5806440"/>
            <a:ext cx="12191040" cy="913680"/>
          </a:xfrm>
          <a:prstGeom prst="rect">
            <a:avLst/>
          </a:prstGeom>
          <a:solidFill>
            <a:srgbClr val="0b2e3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891720" y="1074600"/>
            <a:ext cx="1050840" cy="105084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" name="Image 0" descr="icons/heartbeat_white.png"/>
          <p:cNvPicPr/>
          <p:nvPr/>
        </p:nvPicPr>
        <p:blipFill>
          <a:blip r:embed="rId1"/>
          <a:stretch/>
        </p:blipFill>
        <p:spPr>
          <a:xfrm>
            <a:off x="1128240" y="1311120"/>
            <a:ext cx="577800" cy="577800"/>
          </a:xfrm>
          <a:prstGeom prst="rect">
            <a:avLst/>
          </a:prstGeom>
          <a:ln w="0">
            <a:noFill/>
          </a:ln>
        </p:spPr>
      </p:pic>
      <p:sp>
        <p:nvSpPr>
          <p:cNvPr id="57" name="Text 48"/>
          <p:cNvSpPr/>
          <p:nvPr/>
        </p:nvSpPr>
        <p:spPr>
          <a:xfrm>
            <a:off x="2148840" y="1051560"/>
            <a:ext cx="8686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mbria"/>
                <a:ea typeface="Cambria"/>
              </a:rPr>
              <a:t>PROJECT HUMURA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49"/>
          <p:cNvSpPr/>
          <p:nvPr/>
        </p:nvSpPr>
        <p:spPr>
          <a:xfrm>
            <a:off x="2176200" y="1965960"/>
            <a:ext cx="8594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bfe3e1"/>
                </a:solidFill>
                <a:latin typeface="Calibri"/>
                <a:ea typeface="Calibri"/>
              </a:rPr>
              <a:t>Neonatal Cry Acoustic Diagnostic Triage Platform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50"/>
          <p:cNvSpPr/>
          <p:nvPr/>
        </p:nvSpPr>
        <p:spPr>
          <a:xfrm>
            <a:off x="2176200" y="2606040"/>
            <a:ext cx="841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145" strike="noStrike">
                <a:solidFill>
                  <a:srgbClr val="3fa9a4"/>
                </a:solidFill>
                <a:latin typeface="Calibri"/>
                <a:ea typeface="Calibri"/>
              </a:rPr>
              <a:t>LOW-RESOURCE SETTING</a:t>
            </a:r>
            <a:r>
              <a:rPr b="0" lang="en-US" sz="1250" spc="145" strike="noStrike">
                <a:solidFill>
                  <a:srgbClr val="3e6668"/>
                </a:solidFill>
                <a:latin typeface="Calibri"/>
                <a:ea typeface="Calibri"/>
              </a:rPr>
              <a:t>   •   </a:t>
            </a:r>
            <a:r>
              <a:rPr b="1" lang="en-US" sz="1250" spc="145" strike="noStrike">
                <a:solidFill>
                  <a:srgbClr val="3fa9a4"/>
                </a:solidFill>
                <a:latin typeface="Calibri"/>
                <a:ea typeface="Calibri"/>
              </a:rPr>
              <a:t>RURAL AFRICA</a:t>
            </a:r>
            <a:r>
              <a:rPr b="0" lang="en-US" sz="1250" spc="145" strike="noStrike">
                <a:solidFill>
                  <a:srgbClr val="3e6668"/>
                </a:solidFill>
                <a:latin typeface="Calibri"/>
                <a:ea typeface="Calibri"/>
              </a:rPr>
              <a:t>   •   </a:t>
            </a:r>
            <a:r>
              <a:rPr b="1" lang="en-US" sz="1250" spc="145" strike="noStrike">
                <a:solidFill>
                  <a:srgbClr val="3fa9a4"/>
                </a:solidFill>
                <a:latin typeface="Calibri"/>
                <a:ea typeface="Calibri"/>
              </a:rPr>
              <a:t>AI-POWERED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51"/>
          <p:cNvSpPr/>
          <p:nvPr/>
        </p:nvSpPr>
        <p:spPr>
          <a:xfrm>
            <a:off x="2176200" y="3657600"/>
            <a:ext cx="7497360" cy="1233720"/>
          </a:xfrm>
          <a:prstGeom prst="roundRect">
            <a:avLst>
              <a:gd name="adj" fmla="val 5926"/>
            </a:avLst>
          </a:prstGeom>
          <a:solidFill>
            <a:srgbClr val="0f3d3f"/>
          </a:solidFill>
          <a:ln w="12700">
            <a:solidFill>
              <a:srgbClr val="1c52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52"/>
          <p:cNvSpPr/>
          <p:nvPr/>
        </p:nvSpPr>
        <p:spPr>
          <a:xfrm>
            <a:off x="2450520" y="3822120"/>
            <a:ext cx="69487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d7edec"/>
                </a:solidFill>
                <a:latin typeface="Calibri"/>
                <a:ea typeface="Calibri"/>
              </a:rPr>
              <a:t>“</a:t>
            </a:r>
            <a:r>
              <a:rPr b="0" i="1" lang="en-US" sz="1350" spc="-1" strike="noStrike">
                <a:solidFill>
                  <a:srgbClr val="d7edec"/>
                </a:solidFill>
                <a:latin typeface="Calibri"/>
                <a:ea typeface="Calibri"/>
              </a:rPr>
              <a:t>Humura” means “calm down” in Kinyarwanda  a name for the tool that helps a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d7edec"/>
                </a:solidFill>
                <a:latin typeface="Calibri"/>
                <a:ea typeface="Calibri"/>
              </a:rPr>
              <a:t>worried midwife know, in seconds, whether a crying baby is hungry or in danger.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53"/>
          <p:cNvSpPr/>
          <p:nvPr/>
        </p:nvSpPr>
        <p:spPr>
          <a:xfrm>
            <a:off x="2176200" y="507492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fb9b9"/>
                </a:solidFill>
                <a:latin typeface="Calibri"/>
                <a:ea typeface="Calibri"/>
              </a:rPr>
              <a:t>Team Humura  |  Frontiers GEN-AI Hackathon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548640" y="38412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0f6e70"/>
                </a:solidFill>
                <a:latin typeface="Calibri"/>
                <a:ea typeface="Calibri"/>
              </a:rPr>
              <a:t>THE PROBLEM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548640" y="658440"/>
            <a:ext cx="8686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7282a"/>
                </a:solidFill>
                <a:latin typeface="Cambria"/>
                <a:ea typeface="Cambria"/>
              </a:rPr>
              <a:t>The cry no one can read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1136880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02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57200" y="6400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145" strike="noStrike">
                <a:solidFill>
                  <a:srgbClr val="5c7274"/>
                </a:solidFill>
                <a:latin typeface="Calibri"/>
                <a:ea typeface="Calibri"/>
              </a:rPr>
              <a:t>PROJECT HUMURA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548640" y="1691640"/>
            <a:ext cx="484560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0b4f51"/>
                </a:solidFill>
                <a:latin typeface="Cambria"/>
                <a:ea typeface="Cambria"/>
              </a:rPr>
              <a:t>2.5M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c7274"/>
                </a:solidFill>
                <a:latin typeface="Calibri"/>
                <a:ea typeface="Calibri"/>
              </a:rPr>
              <a:t>newborns die in their first month, every year, most in rural Africa, far from a hospital.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566640" y="3520440"/>
            <a:ext cx="4572000" cy="360"/>
          </a:xfrm>
          <a:prstGeom prst="line">
            <a:avLst/>
          </a:prstGeom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548640" y="3703320"/>
            <a:ext cx="484560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82a"/>
                </a:solidFill>
                <a:latin typeface="Calibri"/>
                <a:ea typeface="Calibri"/>
              </a:rPr>
              <a:t>A baby’s cry carries clinical information, signs of </a:t>
            </a:r>
            <a:r>
              <a:rPr b="1" lang="en-US" sz="1400" spc="-1" strike="noStrike">
                <a:solidFill>
                  <a:srgbClr val="0b4f51"/>
                </a:solidFill>
                <a:latin typeface="Calibri"/>
                <a:ea typeface="Calibri"/>
              </a:rPr>
              <a:t>asphyxia, infection, or neurological distress.</a:t>
            </a:r>
            <a:r>
              <a:rPr b="0" lang="en-US" sz="1400" spc="-1" strike="noStrike">
                <a:solidFill>
                  <a:srgbClr val="17282a"/>
                </a:solidFill>
                <a:latin typeface="Calibri"/>
                <a:ea typeface="Calibri"/>
              </a:rPr>
              <a:t> But without specialist training, every cry sounds the same.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548640" y="5257800"/>
            <a:ext cx="48456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7274"/>
                </a:solidFill>
                <a:latin typeface="Calibri"/>
                <a:ea typeface="Calibri"/>
              </a:rPr>
              <a:t>A midwife has only her ears and a thermometer, and no way to tell a normal cry from an emergency.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5806440" y="1691640"/>
            <a:ext cx="5851440" cy="4159800"/>
          </a:xfrm>
          <a:prstGeom prst="roundRect">
            <a:avLst>
              <a:gd name="adj" fmla="val 1758"/>
            </a:avLst>
          </a:prstGeom>
          <a:solidFill>
            <a:srgbClr val="f7e4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6172200" y="196596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5" strike="noStrike">
                <a:solidFill>
                  <a:srgbClr val="d9483c"/>
                </a:solidFill>
                <a:latin typeface="Calibri"/>
                <a:ea typeface="Calibri"/>
              </a:rPr>
              <a:t>WHY BABIES DIE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099120" y="2569320"/>
            <a:ext cx="657720" cy="657720"/>
          </a:xfrm>
          <a:prstGeom prst="ellipse">
            <a:avLst/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Image 0" descr="icons/alert_white.png"/>
          <p:cNvPicPr/>
          <p:nvPr/>
        </p:nvPicPr>
        <p:blipFill>
          <a:blip r:embed="rId1"/>
          <a:stretch/>
        </p:blipFill>
        <p:spPr>
          <a:xfrm>
            <a:off x="6263640" y="273420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75" name="Text 11"/>
          <p:cNvSpPr/>
          <p:nvPr/>
        </p:nvSpPr>
        <p:spPr>
          <a:xfrm>
            <a:off x="6903720" y="251460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282a"/>
                </a:solidFill>
                <a:latin typeface="Cambria"/>
                <a:ea typeface="Cambria"/>
              </a:rPr>
              <a:t>Help arrives too late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6903720" y="2843640"/>
            <a:ext cx="4342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274"/>
                </a:solidFill>
                <a:latin typeface="Calibri"/>
                <a:ea typeface="Calibri"/>
              </a:rPr>
              <a:t>By the time danger is recognized, critical minutes have already passed.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6099120" y="3593520"/>
            <a:ext cx="657720" cy="657720"/>
          </a:xfrm>
          <a:prstGeom prst="ellipse">
            <a:avLst/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Image 1" descr="icons/hospital_white.png"/>
          <p:cNvPicPr/>
          <p:nvPr/>
        </p:nvPicPr>
        <p:blipFill>
          <a:blip r:embed="rId2"/>
          <a:stretch/>
        </p:blipFill>
        <p:spPr>
          <a:xfrm>
            <a:off x="6263640" y="375804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79" name="Text 14"/>
          <p:cNvSpPr/>
          <p:nvPr/>
        </p:nvSpPr>
        <p:spPr>
          <a:xfrm>
            <a:off x="6903720" y="353880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282a"/>
                </a:solidFill>
                <a:latin typeface="Cambria"/>
                <a:ea typeface="Cambria"/>
              </a:rPr>
              <a:t>No specialist in the village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6903720" y="3867840"/>
            <a:ext cx="4342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274"/>
                </a:solidFill>
                <a:latin typeface="Calibri"/>
                <a:ea typeface="Calibri"/>
              </a:rPr>
              <a:t>The nearest referral hospital can be hours away by road.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6"/>
          <p:cNvSpPr/>
          <p:nvPr/>
        </p:nvSpPr>
        <p:spPr>
          <a:xfrm>
            <a:off x="6099120" y="4617720"/>
            <a:ext cx="657720" cy="657720"/>
          </a:xfrm>
          <a:prstGeom prst="ellipse">
            <a:avLst/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Image 2" descr="icons/ear_white.png"/>
          <p:cNvPicPr/>
          <p:nvPr/>
        </p:nvPicPr>
        <p:blipFill>
          <a:blip r:embed="rId3"/>
          <a:stretch/>
        </p:blipFill>
        <p:spPr>
          <a:xfrm>
            <a:off x="6263640" y="478224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83" name="Text 17"/>
          <p:cNvSpPr/>
          <p:nvPr/>
        </p:nvSpPr>
        <p:spPr>
          <a:xfrm>
            <a:off x="6903720" y="456300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282a"/>
                </a:solidFill>
                <a:latin typeface="Cambria"/>
                <a:ea typeface="Cambria"/>
              </a:rPr>
              <a:t>No way to tell cries apart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6903720" y="4892040"/>
            <a:ext cx="4342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274"/>
                </a:solidFill>
                <a:latin typeface="Calibri"/>
                <a:ea typeface="Calibri"/>
              </a:rPr>
              <a:t>“</a:t>
            </a:r>
            <a:r>
              <a:rPr b="0" lang="en-US" sz="1150" spc="-1" strike="noStrike">
                <a:solidFill>
                  <a:srgbClr val="5c7274"/>
                </a:solidFill>
                <a:latin typeface="Calibri"/>
                <a:ea typeface="Calibri"/>
              </a:rPr>
              <a:t>Normal” and “emergency” crying sound identical to an untrained ear.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548640" y="38412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0f6e70"/>
                </a:solidFill>
                <a:latin typeface="Calibri"/>
                <a:ea typeface="Calibri"/>
              </a:rPr>
              <a:t>OUR SOLUTION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548640" y="658440"/>
            <a:ext cx="8686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7282a"/>
                </a:solidFill>
                <a:latin typeface="Cambria"/>
                <a:ea typeface="Cambria"/>
              </a:rPr>
              <a:t>Project Humura the solution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1136880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03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457200" y="6400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145" strike="noStrike">
                <a:solidFill>
                  <a:srgbClr val="5c7274"/>
                </a:solidFill>
                <a:latin typeface="Calibri"/>
                <a:ea typeface="Calibri"/>
              </a:rPr>
              <a:t>PROJECT HUMURA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4"/>
          <p:cNvSpPr/>
          <p:nvPr/>
        </p:nvSpPr>
        <p:spPr>
          <a:xfrm>
            <a:off x="548640" y="1691640"/>
            <a:ext cx="2541240" cy="2331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749880" y="18288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fa9a4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1431000" y="2263320"/>
            <a:ext cx="776520" cy="7765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" name="Image 0" descr="icons/mic_white.png"/>
          <p:cNvPicPr/>
          <p:nvPr/>
        </p:nvPicPr>
        <p:blipFill>
          <a:blip r:embed="rId1"/>
          <a:stretch/>
        </p:blipFill>
        <p:spPr>
          <a:xfrm>
            <a:off x="1625400" y="2457360"/>
            <a:ext cx="388080" cy="388080"/>
          </a:xfrm>
          <a:prstGeom prst="rect">
            <a:avLst/>
          </a:prstGeom>
          <a:ln w="0">
            <a:noFill/>
          </a:ln>
        </p:spPr>
      </p:pic>
      <p:sp>
        <p:nvSpPr>
          <p:cNvPr id="93" name="Text 7"/>
          <p:cNvSpPr/>
          <p:nvPr/>
        </p:nvSpPr>
        <p:spPr>
          <a:xfrm>
            <a:off x="685800" y="3108960"/>
            <a:ext cx="2266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282a"/>
                </a:solidFill>
                <a:latin typeface="Cambria"/>
                <a:ea typeface="Cambria"/>
              </a:rPr>
              <a:t>Listen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731520" y="3447360"/>
            <a:ext cx="2175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Captures the baby’s cry via mic or upload.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3291840" y="1691640"/>
            <a:ext cx="2541240" cy="2331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3493080" y="18288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fa9a4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4174200" y="2263320"/>
            <a:ext cx="776520" cy="7765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Image 1" descr="icons/wave_white.png"/>
          <p:cNvPicPr/>
          <p:nvPr/>
        </p:nvPicPr>
        <p:blipFill>
          <a:blip r:embed="rId2"/>
          <a:stretch/>
        </p:blipFill>
        <p:spPr>
          <a:xfrm>
            <a:off x="4368600" y="2457360"/>
            <a:ext cx="388080" cy="388080"/>
          </a:xfrm>
          <a:prstGeom prst="rect">
            <a:avLst/>
          </a:prstGeom>
          <a:ln w="0">
            <a:noFill/>
          </a:ln>
        </p:spPr>
      </p:pic>
      <p:sp>
        <p:nvSpPr>
          <p:cNvPr id="99" name="Text 12"/>
          <p:cNvSpPr/>
          <p:nvPr/>
        </p:nvSpPr>
        <p:spPr>
          <a:xfrm>
            <a:off x="3429000" y="3108960"/>
            <a:ext cx="2266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282a"/>
                </a:solidFill>
                <a:latin typeface="Cambria"/>
                <a:ea typeface="Cambria"/>
              </a:rPr>
              <a:t>Analyze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3474720" y="3447360"/>
            <a:ext cx="2175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AI reads pitch, energy and acoustic patterns.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6035040" y="1691640"/>
            <a:ext cx="2541240" cy="2331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6236280" y="18288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fa9a4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6917400" y="2263320"/>
            <a:ext cx="776520" cy="7765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Image 2" descr="icons/alert_white.png"/>
          <p:cNvPicPr/>
          <p:nvPr/>
        </p:nvPicPr>
        <p:blipFill>
          <a:blip r:embed="rId3"/>
          <a:stretch/>
        </p:blipFill>
        <p:spPr>
          <a:xfrm>
            <a:off x="7111800" y="2457360"/>
            <a:ext cx="388080" cy="388080"/>
          </a:xfrm>
          <a:prstGeom prst="rect">
            <a:avLst/>
          </a:prstGeom>
          <a:ln w="0">
            <a:noFill/>
          </a:ln>
        </p:spPr>
      </p:pic>
      <p:sp>
        <p:nvSpPr>
          <p:cNvPr id="105" name="Text 17"/>
          <p:cNvSpPr/>
          <p:nvPr/>
        </p:nvSpPr>
        <p:spPr>
          <a:xfrm>
            <a:off x="6172200" y="3108960"/>
            <a:ext cx="2266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282a"/>
                </a:solidFill>
                <a:latin typeface="Cambria"/>
                <a:ea typeface="Cambria"/>
              </a:rPr>
              <a:t>Detect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6217920" y="3447360"/>
            <a:ext cx="2175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Classifies distress risk with a 0–100 score.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8778240" y="1691640"/>
            <a:ext cx="2541240" cy="23310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8979480" y="18288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3fa9a4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1"/>
          <p:cNvSpPr/>
          <p:nvPr/>
        </p:nvSpPr>
        <p:spPr>
          <a:xfrm>
            <a:off x="9660600" y="2263320"/>
            <a:ext cx="776520" cy="7765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" name="Image 3" descr="icons/clipboard_white.png"/>
          <p:cNvPicPr/>
          <p:nvPr/>
        </p:nvPicPr>
        <p:blipFill>
          <a:blip r:embed="rId4"/>
          <a:stretch/>
        </p:blipFill>
        <p:spPr>
          <a:xfrm>
            <a:off x="9855000" y="2457360"/>
            <a:ext cx="388080" cy="388080"/>
          </a:xfrm>
          <a:prstGeom prst="rect">
            <a:avLst/>
          </a:prstGeom>
          <a:ln w="0">
            <a:noFill/>
          </a:ln>
        </p:spPr>
      </p:pic>
      <p:sp>
        <p:nvSpPr>
          <p:cNvPr id="111" name="Text 22"/>
          <p:cNvSpPr/>
          <p:nvPr/>
        </p:nvSpPr>
        <p:spPr>
          <a:xfrm>
            <a:off x="8915400" y="3108960"/>
            <a:ext cx="2266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282a"/>
                </a:solidFill>
                <a:latin typeface="Cambria"/>
                <a:ea typeface="Cambria"/>
              </a:rPr>
              <a:t>Generate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3"/>
          <p:cNvSpPr/>
          <p:nvPr/>
        </p:nvSpPr>
        <p:spPr>
          <a:xfrm>
            <a:off x="8961120" y="3447360"/>
            <a:ext cx="2175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Produces a complete AI-assisted triage plan.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548640" y="425196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4f51"/>
                </a:solidFill>
                <a:latin typeface="Calibri"/>
                <a:ea typeface="Calibri"/>
              </a:rPr>
              <a:t>All in under 30 seconds.  </a:t>
            </a:r>
            <a:r>
              <a:rPr b="0" lang="en-US" sz="1400" spc="-1" strike="noStrike">
                <a:solidFill>
                  <a:srgbClr val="17282a"/>
                </a:solidFill>
                <a:latin typeface="Calibri"/>
                <a:ea typeface="Calibri"/>
              </a:rPr>
              <a:t>All on a basic laptop.  </a:t>
            </a:r>
            <a:r>
              <a:rPr b="0" i="1" lang="en-US" sz="1400" spc="-1" strike="noStrike">
                <a:solidFill>
                  <a:srgbClr val="5c7274"/>
                </a:solidFill>
                <a:latin typeface="Calibri"/>
                <a:ea typeface="Calibri"/>
              </a:rPr>
              <a:t>No internet needed for steps 1–3.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5"/>
          <p:cNvSpPr/>
          <p:nvPr/>
        </p:nvSpPr>
        <p:spPr>
          <a:xfrm>
            <a:off x="548640" y="46177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14" strike="noStrike">
                <a:solidFill>
                  <a:srgbClr val="5c7274"/>
                </a:solidFill>
                <a:latin typeface="Calibri"/>
                <a:ea typeface="Calibri"/>
              </a:rPr>
              <a:t>FOUR-TIER TRIAGE ALERT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26"/>
          <p:cNvSpPr/>
          <p:nvPr/>
        </p:nvSpPr>
        <p:spPr>
          <a:xfrm>
            <a:off x="548640" y="4937760"/>
            <a:ext cx="2651040" cy="1233720"/>
          </a:xfrm>
          <a:prstGeom prst="roundRect">
            <a:avLst>
              <a:gd name="adj" fmla="val 5926"/>
            </a:avLst>
          </a:prstGeom>
          <a:solidFill>
            <a:srgbClr val="e1f2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7"/>
          <p:cNvSpPr/>
          <p:nvPr/>
        </p:nvSpPr>
        <p:spPr>
          <a:xfrm>
            <a:off x="795600" y="5106960"/>
            <a:ext cx="529560" cy="529560"/>
          </a:xfrm>
          <a:prstGeom prst="ellipse">
            <a:avLst/>
          </a:prstGeom>
          <a:solidFill>
            <a:srgbClr val="2e9e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7" name="Image 4" descr="icons/check_white.png"/>
          <p:cNvPicPr/>
          <p:nvPr/>
        </p:nvPicPr>
        <p:blipFill>
          <a:blip r:embed="rId5"/>
          <a:stretch/>
        </p:blipFill>
        <p:spPr>
          <a:xfrm>
            <a:off x="914760" y="522612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118" name="Text 28"/>
          <p:cNvSpPr/>
          <p:nvPr/>
        </p:nvSpPr>
        <p:spPr>
          <a:xfrm>
            <a:off x="1417320" y="5102280"/>
            <a:ext cx="1645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6b3e"/>
                </a:solidFill>
                <a:latin typeface="Cambria"/>
                <a:ea typeface="Cambria"/>
              </a:rPr>
              <a:t>STABLE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9"/>
          <p:cNvSpPr/>
          <p:nvPr/>
        </p:nvSpPr>
        <p:spPr>
          <a:xfrm>
            <a:off x="1417320" y="541332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1e6b3e"/>
                </a:solidFill>
                <a:latin typeface="Calibri"/>
                <a:ea typeface="Calibri"/>
              </a:rPr>
              <a:t>Keep monitoring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0"/>
          <p:cNvSpPr/>
          <p:nvPr/>
        </p:nvSpPr>
        <p:spPr>
          <a:xfrm>
            <a:off x="3337560" y="4937760"/>
            <a:ext cx="2651040" cy="1233720"/>
          </a:xfrm>
          <a:prstGeom prst="roundRect">
            <a:avLst>
              <a:gd name="adj" fmla="val 5926"/>
            </a:avLst>
          </a:prstGeom>
          <a:solidFill>
            <a:srgbClr val="e4eb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31"/>
          <p:cNvSpPr/>
          <p:nvPr/>
        </p:nvSpPr>
        <p:spPr>
          <a:xfrm>
            <a:off x="3584520" y="5106960"/>
            <a:ext cx="529560" cy="529560"/>
          </a:xfrm>
          <a:prstGeom prst="ellipse">
            <a:avLst/>
          </a:prstGeom>
          <a:solidFill>
            <a:srgbClr val="3a72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2" name="Image 5" descr="icons/stethoscope_white.png"/>
          <p:cNvPicPr/>
          <p:nvPr/>
        </p:nvPicPr>
        <p:blipFill>
          <a:blip r:embed="rId6"/>
          <a:stretch/>
        </p:blipFill>
        <p:spPr>
          <a:xfrm>
            <a:off x="3703680" y="522612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123" name="Text 32"/>
          <p:cNvSpPr/>
          <p:nvPr/>
        </p:nvSpPr>
        <p:spPr>
          <a:xfrm>
            <a:off x="4206240" y="5102280"/>
            <a:ext cx="1645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4466b"/>
                </a:solidFill>
                <a:latin typeface="Cambria"/>
                <a:ea typeface="Cambria"/>
              </a:rPr>
              <a:t>MODERATE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3"/>
          <p:cNvSpPr/>
          <p:nvPr/>
        </p:nvSpPr>
        <p:spPr>
          <a:xfrm>
            <a:off x="4206240" y="541332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24466b"/>
                </a:solidFill>
                <a:latin typeface="Calibri"/>
                <a:ea typeface="Calibri"/>
              </a:rPr>
              <a:t>Reassess soon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34"/>
          <p:cNvSpPr/>
          <p:nvPr/>
        </p:nvSpPr>
        <p:spPr>
          <a:xfrm>
            <a:off x="6126480" y="4937760"/>
            <a:ext cx="2651040" cy="1233720"/>
          </a:xfrm>
          <a:prstGeom prst="roundRect">
            <a:avLst>
              <a:gd name="adj" fmla="val 5926"/>
            </a:avLst>
          </a:prstGeom>
          <a:solidFill>
            <a:srgbClr val="f5ea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35"/>
          <p:cNvSpPr/>
          <p:nvPr/>
        </p:nvSpPr>
        <p:spPr>
          <a:xfrm>
            <a:off x="6373440" y="5106960"/>
            <a:ext cx="529560" cy="529560"/>
          </a:xfrm>
          <a:prstGeom prst="ellipse">
            <a:avLst/>
          </a:prstGeom>
          <a:solidFill>
            <a:srgbClr val="c981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" name="Image 6" descr="icons/bolt_white.png"/>
          <p:cNvPicPr/>
          <p:nvPr/>
        </p:nvPicPr>
        <p:blipFill>
          <a:blip r:embed="rId7"/>
          <a:stretch/>
        </p:blipFill>
        <p:spPr>
          <a:xfrm>
            <a:off x="6492600" y="522612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128" name="Text 36"/>
          <p:cNvSpPr/>
          <p:nvPr/>
        </p:nvSpPr>
        <p:spPr>
          <a:xfrm>
            <a:off x="6995160" y="5102280"/>
            <a:ext cx="1645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a5117"/>
                </a:solidFill>
                <a:latin typeface="Cambria"/>
                <a:ea typeface="Cambria"/>
              </a:rPr>
              <a:t>HIGH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7"/>
          <p:cNvSpPr/>
          <p:nvPr/>
        </p:nvSpPr>
        <p:spPr>
          <a:xfrm>
            <a:off x="6995160" y="541332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7a5117"/>
                </a:solidFill>
                <a:latin typeface="Calibri"/>
                <a:ea typeface="Calibri"/>
              </a:rPr>
              <a:t>Escalate care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38"/>
          <p:cNvSpPr/>
          <p:nvPr/>
        </p:nvSpPr>
        <p:spPr>
          <a:xfrm>
            <a:off x="8915400" y="4937760"/>
            <a:ext cx="2651040" cy="1233720"/>
          </a:xfrm>
          <a:prstGeom prst="roundRect">
            <a:avLst>
              <a:gd name="adj" fmla="val 5926"/>
            </a:avLst>
          </a:prstGeom>
          <a:solidFill>
            <a:srgbClr val="f7e4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39"/>
          <p:cNvSpPr/>
          <p:nvPr/>
        </p:nvSpPr>
        <p:spPr>
          <a:xfrm>
            <a:off x="9162360" y="5106960"/>
            <a:ext cx="529560" cy="529560"/>
          </a:xfrm>
          <a:prstGeom prst="ellipse">
            <a:avLst/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7" descr="icons/alert_white.png"/>
          <p:cNvPicPr/>
          <p:nvPr/>
        </p:nvPicPr>
        <p:blipFill>
          <a:blip r:embed="rId8"/>
          <a:stretch/>
        </p:blipFill>
        <p:spPr>
          <a:xfrm>
            <a:off x="9281520" y="522612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133" name="Text 40"/>
          <p:cNvSpPr/>
          <p:nvPr/>
        </p:nvSpPr>
        <p:spPr>
          <a:xfrm>
            <a:off x="9784080" y="5102280"/>
            <a:ext cx="1645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8a3a32"/>
                </a:solidFill>
                <a:latin typeface="Cambria"/>
                <a:ea typeface="Cambria"/>
              </a:rPr>
              <a:t>CRITICAL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41"/>
          <p:cNvSpPr/>
          <p:nvPr/>
        </p:nvSpPr>
        <p:spPr>
          <a:xfrm>
            <a:off x="9784080" y="541332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pc="-1" strike="noStrike">
                <a:solidFill>
                  <a:srgbClr val="8a3a32"/>
                </a:solidFill>
                <a:latin typeface="Calibri"/>
                <a:ea typeface="Calibri"/>
              </a:rPr>
              <a:t>Refer now</a:t>
            </a:r>
            <a:endParaRPr b="0" lang="en-US" sz="10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48640" y="38412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0f6e70"/>
                </a:solidFill>
                <a:latin typeface="Calibri"/>
                <a:ea typeface="Calibri"/>
              </a:rPr>
              <a:t>HOW IT WORKS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48640" y="658440"/>
            <a:ext cx="8686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7282a"/>
                </a:solidFill>
                <a:latin typeface="Cambria"/>
                <a:ea typeface="Cambria"/>
              </a:rPr>
              <a:t>From cry to action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1136880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04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457200" y="6400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145" strike="noStrike">
                <a:solidFill>
                  <a:srgbClr val="5c7274"/>
                </a:solidFill>
                <a:latin typeface="Calibri"/>
                <a:ea typeface="Calibri"/>
              </a:rPr>
              <a:t>PROJECT HUMURA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1417320" y="2066400"/>
            <a:ext cx="360" cy="3767400"/>
          </a:xfrm>
          <a:prstGeom prst="line">
            <a:avLst/>
          </a:prstGeom>
          <a:ln w="254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1042560" y="1691640"/>
            <a:ext cx="749160" cy="74916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1" name="Image 0" descr="icons/usermd_white.png"/>
          <p:cNvPicPr/>
          <p:nvPr/>
        </p:nvPicPr>
        <p:blipFill>
          <a:blip r:embed="rId1"/>
          <a:stretch/>
        </p:blipFill>
        <p:spPr>
          <a:xfrm>
            <a:off x="1229760" y="1879200"/>
            <a:ext cx="374040" cy="374040"/>
          </a:xfrm>
          <a:prstGeom prst="rect">
            <a:avLst/>
          </a:prstGeom>
          <a:ln w="0">
            <a:noFill/>
          </a:ln>
        </p:spPr>
      </p:pic>
      <p:sp>
        <p:nvSpPr>
          <p:cNvPr id="142" name="Text 6"/>
          <p:cNvSpPr/>
          <p:nvPr/>
        </p:nvSpPr>
        <p:spPr>
          <a:xfrm>
            <a:off x="2194560" y="1673280"/>
            <a:ext cx="9326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7282a"/>
                </a:solidFill>
                <a:latin typeface="Cambria"/>
                <a:ea typeface="Cambria"/>
              </a:rPr>
              <a:t>Midwife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2194560" y="200268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274"/>
                </a:solidFill>
                <a:latin typeface="Calibri"/>
                <a:ea typeface="Calibri"/>
              </a:rPr>
              <a:t>Opens the app at the bedside.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8"/>
          <p:cNvSpPr/>
          <p:nvPr/>
        </p:nvSpPr>
        <p:spPr>
          <a:xfrm>
            <a:off x="1042560" y="2633400"/>
            <a:ext cx="749160" cy="74916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Image 1" descr="icons/mic_white.png"/>
          <p:cNvPicPr/>
          <p:nvPr/>
        </p:nvPicPr>
        <p:blipFill>
          <a:blip r:embed="rId2"/>
          <a:stretch/>
        </p:blipFill>
        <p:spPr>
          <a:xfrm>
            <a:off x="1229760" y="2820960"/>
            <a:ext cx="374040" cy="374040"/>
          </a:xfrm>
          <a:prstGeom prst="rect">
            <a:avLst/>
          </a:prstGeom>
          <a:ln w="0">
            <a:noFill/>
          </a:ln>
        </p:spPr>
      </p:pic>
      <p:sp>
        <p:nvSpPr>
          <p:cNvPr id="146" name="Text 9"/>
          <p:cNvSpPr/>
          <p:nvPr/>
        </p:nvSpPr>
        <p:spPr>
          <a:xfrm>
            <a:off x="2194560" y="2615040"/>
            <a:ext cx="9326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7282a"/>
                </a:solidFill>
                <a:latin typeface="Cambria"/>
                <a:ea typeface="Cambria"/>
              </a:rPr>
              <a:t>Record cry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2194560" y="294444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274"/>
                </a:solidFill>
                <a:latin typeface="Calibri"/>
                <a:ea typeface="Calibri"/>
              </a:rPr>
              <a:t>Captures a two-second audio sample.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1042560" y="3575160"/>
            <a:ext cx="749160" cy="74916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9" name="Image 2" descr="icons/brain_white.png"/>
          <p:cNvPicPr/>
          <p:nvPr/>
        </p:nvPicPr>
        <p:blipFill>
          <a:blip r:embed="rId3"/>
          <a:stretch/>
        </p:blipFill>
        <p:spPr>
          <a:xfrm>
            <a:off x="1229760" y="3762720"/>
            <a:ext cx="374040" cy="374040"/>
          </a:xfrm>
          <a:prstGeom prst="rect">
            <a:avLst/>
          </a:prstGeom>
          <a:ln w="0">
            <a:noFill/>
          </a:ln>
        </p:spPr>
      </p:pic>
      <p:sp>
        <p:nvSpPr>
          <p:cNvPr id="150" name="Text 12"/>
          <p:cNvSpPr/>
          <p:nvPr/>
        </p:nvSpPr>
        <p:spPr>
          <a:xfrm>
            <a:off x="2194560" y="3557160"/>
            <a:ext cx="9326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7282a"/>
                </a:solidFill>
                <a:latin typeface="Cambria"/>
                <a:ea typeface="Cambria"/>
              </a:rPr>
              <a:t>Tier 1 - Local AI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2194560" y="388620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274"/>
                </a:solidFill>
                <a:latin typeface="Calibri"/>
                <a:ea typeface="Calibri"/>
              </a:rPr>
              <a:t>Extracts 36 acoustic features and scores distress risk with a Random Forest trained on 1,267 cries,runs on the laptop, no internet needed.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4"/>
          <p:cNvSpPr/>
          <p:nvPr/>
        </p:nvSpPr>
        <p:spPr>
          <a:xfrm>
            <a:off x="1042560" y="4517280"/>
            <a:ext cx="749160" cy="749160"/>
          </a:xfrm>
          <a:prstGeom prst="ellipse">
            <a:avLst/>
          </a:prstGeom>
          <a:solidFill>
            <a:srgbClr val="3fa9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3" name="Image 3" descr="icons/robot_white.png"/>
          <p:cNvPicPr/>
          <p:nvPr/>
        </p:nvPicPr>
        <p:blipFill>
          <a:blip r:embed="rId4"/>
          <a:stretch/>
        </p:blipFill>
        <p:spPr>
          <a:xfrm>
            <a:off x="1229760" y="4704480"/>
            <a:ext cx="374040" cy="374040"/>
          </a:xfrm>
          <a:prstGeom prst="rect">
            <a:avLst/>
          </a:prstGeom>
          <a:ln w="0">
            <a:noFill/>
          </a:ln>
        </p:spPr>
      </p:pic>
      <p:sp>
        <p:nvSpPr>
          <p:cNvPr id="154" name="Text 15"/>
          <p:cNvSpPr/>
          <p:nvPr/>
        </p:nvSpPr>
        <p:spPr>
          <a:xfrm>
            <a:off x="2194560" y="4498920"/>
            <a:ext cx="9326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7282a"/>
                </a:solidFill>
                <a:latin typeface="Cambria"/>
                <a:ea typeface="Cambria"/>
              </a:rPr>
              <a:t>Tier 2 - AI Doctor (Gemini)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2194560" y="482796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274"/>
                </a:solidFill>
                <a:latin typeface="Calibri"/>
                <a:ea typeface="Calibri"/>
              </a:rPr>
              <a:t>Triggered when risk is elevated. Reads the acoustic score, vitals and history to draft a full triage brief, falls back to an 8-rule clinical engine offline.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7"/>
          <p:cNvSpPr/>
          <p:nvPr/>
        </p:nvSpPr>
        <p:spPr>
          <a:xfrm>
            <a:off x="1042560" y="5459040"/>
            <a:ext cx="749160" cy="749160"/>
          </a:xfrm>
          <a:prstGeom prst="ellipse">
            <a:avLst/>
          </a:prstGeom>
          <a:solidFill>
            <a:srgbClr val="0b4f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7" name="Image 4" descr="icons/clipboard_white.png"/>
          <p:cNvPicPr/>
          <p:nvPr/>
        </p:nvPicPr>
        <p:blipFill>
          <a:blip r:embed="rId5"/>
          <a:stretch/>
        </p:blipFill>
        <p:spPr>
          <a:xfrm>
            <a:off x="1229760" y="5646600"/>
            <a:ext cx="374040" cy="374040"/>
          </a:xfrm>
          <a:prstGeom prst="rect">
            <a:avLst/>
          </a:prstGeom>
          <a:ln w="0">
            <a:noFill/>
          </a:ln>
        </p:spPr>
      </p:pic>
      <p:sp>
        <p:nvSpPr>
          <p:cNvPr id="158" name="Text 18"/>
          <p:cNvSpPr/>
          <p:nvPr/>
        </p:nvSpPr>
        <p:spPr>
          <a:xfrm>
            <a:off x="2194560" y="5440680"/>
            <a:ext cx="9326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7282a"/>
                </a:solidFill>
                <a:latin typeface="Cambria"/>
                <a:ea typeface="Cambria"/>
              </a:rPr>
              <a:t>Result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2194560" y="576972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274"/>
                </a:solidFill>
                <a:latin typeface="Calibri"/>
                <a:ea typeface="Calibri"/>
              </a:rPr>
              <a:t>STABLE → CRITICAL alert, spectrogram, emergency steps for the midwife, and an auto-written hospital referral letter.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548640" y="38412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0f6e70"/>
                </a:solidFill>
                <a:latin typeface="Calibri"/>
                <a:ea typeface="Calibri"/>
              </a:rPr>
              <a:t>UNDER THE HOOD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548640" y="658440"/>
            <a:ext cx="8686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7282a"/>
                </a:solidFill>
                <a:latin typeface="Cambria"/>
                <a:ea typeface="Cambria"/>
              </a:rPr>
              <a:t>The technology stack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1136880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05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57200" y="6400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145" strike="noStrike">
                <a:solidFill>
                  <a:srgbClr val="5c7274"/>
                </a:solidFill>
                <a:latin typeface="Calibri"/>
                <a:ea typeface="Calibri"/>
              </a:rPr>
              <a:t>PROJECT HUMURA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548640" y="1691640"/>
            <a:ext cx="2139120" cy="44341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1275480" y="1915560"/>
            <a:ext cx="685080" cy="68508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0" descr="icons/wave_white.png"/>
          <p:cNvPicPr/>
          <p:nvPr/>
        </p:nvPicPr>
        <p:blipFill>
          <a:blip r:embed="rId1"/>
          <a:stretch/>
        </p:blipFill>
        <p:spPr>
          <a:xfrm>
            <a:off x="1447200" y="2087280"/>
            <a:ext cx="342360" cy="342360"/>
          </a:xfrm>
          <a:prstGeom prst="rect">
            <a:avLst/>
          </a:prstGeom>
          <a:ln w="0">
            <a:noFill/>
          </a:ln>
        </p:spPr>
      </p:pic>
      <p:sp>
        <p:nvSpPr>
          <p:cNvPr id="167" name="Text 6"/>
          <p:cNvSpPr/>
          <p:nvPr/>
        </p:nvSpPr>
        <p:spPr>
          <a:xfrm>
            <a:off x="685800" y="2679120"/>
            <a:ext cx="1864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Audio Analysis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685800" y="3154680"/>
            <a:ext cx="186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3fa9a4"/>
                </a:solidFill>
                <a:latin typeface="Calibri"/>
                <a:ea typeface="Calibri"/>
              </a:rPr>
              <a:t>librosa + Python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749880" y="356616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F0 pitch tracking (librosa.yin)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749880" y="407808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13 MFCC voice-print coefficients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749880" y="459036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Spectral centroid, rolloff, ZCR, RMS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713160" y="5413320"/>
            <a:ext cx="1809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i="1" lang="en-US" sz="830" spc="-1" strike="noStrike">
                <a:solidFill>
                  <a:srgbClr val="0b4f51"/>
                </a:solidFill>
                <a:latin typeface="Calibri"/>
                <a:ea typeface="Calibri"/>
              </a:rPr>
              <a:t>Normal: F0 350–650 Hz, stable  ·  Distress: F0 150–1000 Hz, volatile  36 features total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2"/>
          <p:cNvSpPr/>
          <p:nvPr/>
        </p:nvSpPr>
        <p:spPr>
          <a:xfrm>
            <a:off x="2853000" y="1691640"/>
            <a:ext cx="2139120" cy="44341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3"/>
          <p:cNvSpPr/>
          <p:nvPr/>
        </p:nvSpPr>
        <p:spPr>
          <a:xfrm>
            <a:off x="3579840" y="1915560"/>
            <a:ext cx="685080" cy="68508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5" name="Image 1" descr="icons/chartline_white.png"/>
          <p:cNvPicPr/>
          <p:nvPr/>
        </p:nvPicPr>
        <p:blipFill>
          <a:blip r:embed="rId2"/>
          <a:stretch/>
        </p:blipFill>
        <p:spPr>
          <a:xfrm>
            <a:off x="3751200" y="2087280"/>
            <a:ext cx="342360" cy="342360"/>
          </a:xfrm>
          <a:prstGeom prst="rect">
            <a:avLst/>
          </a:prstGeom>
          <a:ln w="0">
            <a:noFill/>
          </a:ln>
        </p:spPr>
      </p:pic>
      <p:sp>
        <p:nvSpPr>
          <p:cNvPr id="176" name="Text 14"/>
          <p:cNvSpPr/>
          <p:nvPr/>
        </p:nvSpPr>
        <p:spPr>
          <a:xfrm>
            <a:off x="2990160" y="2679120"/>
            <a:ext cx="1864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Machine Learning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5"/>
          <p:cNvSpPr/>
          <p:nvPr/>
        </p:nvSpPr>
        <p:spPr>
          <a:xfrm>
            <a:off x="2990160" y="3154680"/>
            <a:ext cx="186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3fa9a4"/>
                </a:solidFill>
                <a:latin typeface="Calibri"/>
                <a:ea typeface="Calibri"/>
              </a:rPr>
              <a:t>scikit-learn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6"/>
          <p:cNvSpPr/>
          <p:nvPr/>
        </p:nvSpPr>
        <p:spPr>
          <a:xfrm>
            <a:off x="3054240" y="356616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Random Forest  200 trees, depth 16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3054240" y="407808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1,267 training samples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8"/>
          <p:cNvSpPr/>
          <p:nvPr/>
        </p:nvSpPr>
        <p:spPr>
          <a:xfrm>
            <a:off x="3054240" y="459036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845 real cries + 422 synthetic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3017520" y="5413320"/>
            <a:ext cx="1809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i="1" lang="en-US" sz="830" spc="-1" strike="noStrike">
                <a:solidFill>
                  <a:srgbClr val="0b4f51"/>
                </a:solidFill>
                <a:latin typeface="Calibri"/>
                <a:ea typeface="Calibri"/>
              </a:rPr>
              <a:t>845 real cries train the model, validated on 22 additional real recordings,  full clinical trial is next</a:t>
            </a:r>
            <a:endParaRPr b="0" lang="en-US" sz="8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20"/>
          <p:cNvSpPr/>
          <p:nvPr/>
        </p:nvSpPr>
        <p:spPr>
          <a:xfrm>
            <a:off x="5157360" y="1691640"/>
            <a:ext cx="2139120" cy="44341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1"/>
          <p:cNvSpPr/>
          <p:nvPr/>
        </p:nvSpPr>
        <p:spPr>
          <a:xfrm>
            <a:off x="5884200" y="1915560"/>
            <a:ext cx="685080" cy="68508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4" name="Image 2" descr="icons/robot_white.png"/>
          <p:cNvPicPr/>
          <p:nvPr/>
        </p:nvPicPr>
        <p:blipFill>
          <a:blip r:embed="rId3"/>
          <a:stretch/>
        </p:blipFill>
        <p:spPr>
          <a:xfrm>
            <a:off x="6055560" y="2087280"/>
            <a:ext cx="342360" cy="342360"/>
          </a:xfrm>
          <a:prstGeom prst="rect">
            <a:avLst/>
          </a:prstGeom>
          <a:ln w="0">
            <a:noFill/>
          </a:ln>
        </p:spPr>
      </p:pic>
      <p:sp>
        <p:nvSpPr>
          <p:cNvPr id="185" name="Text 22"/>
          <p:cNvSpPr/>
          <p:nvPr/>
        </p:nvSpPr>
        <p:spPr>
          <a:xfrm>
            <a:off x="5294520" y="2679120"/>
            <a:ext cx="1864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Generative AI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3"/>
          <p:cNvSpPr/>
          <p:nvPr/>
        </p:nvSpPr>
        <p:spPr>
          <a:xfrm>
            <a:off x="5294520" y="3154680"/>
            <a:ext cx="186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3fa9a4"/>
                </a:solidFill>
                <a:latin typeface="Calibri"/>
                <a:ea typeface="Calibri"/>
              </a:rPr>
              <a:t>Google Gemini (gemini-flash-latest)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4"/>
          <p:cNvSpPr/>
          <p:nvPr/>
        </p:nvSpPr>
        <p:spPr>
          <a:xfrm>
            <a:off x="5358240" y="356616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Assessment + treatment + referral letter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5"/>
          <p:cNvSpPr/>
          <p:nvPr/>
        </p:nvSpPr>
        <p:spPr>
          <a:xfrm>
            <a:off x="5358240" y="407808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8-rule clinical engine  fallback offline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6"/>
          <p:cNvSpPr/>
          <p:nvPr/>
        </p:nvSpPr>
        <p:spPr>
          <a:xfrm>
            <a:off x="7461360" y="1691640"/>
            <a:ext cx="2139120" cy="44341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7"/>
          <p:cNvSpPr/>
          <p:nvPr/>
        </p:nvSpPr>
        <p:spPr>
          <a:xfrm>
            <a:off x="8188560" y="1915560"/>
            <a:ext cx="685080" cy="68508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1" name="Image 3" descr="icons/database_white.png"/>
          <p:cNvPicPr/>
          <p:nvPr/>
        </p:nvPicPr>
        <p:blipFill>
          <a:blip r:embed="rId4"/>
          <a:stretch/>
        </p:blipFill>
        <p:spPr>
          <a:xfrm>
            <a:off x="8359920" y="2087280"/>
            <a:ext cx="342360" cy="342360"/>
          </a:xfrm>
          <a:prstGeom prst="rect">
            <a:avLst/>
          </a:prstGeom>
          <a:ln w="0">
            <a:noFill/>
          </a:ln>
        </p:spPr>
      </p:pic>
      <p:sp>
        <p:nvSpPr>
          <p:cNvPr id="192" name="Text 28"/>
          <p:cNvSpPr/>
          <p:nvPr/>
        </p:nvSpPr>
        <p:spPr>
          <a:xfrm>
            <a:off x="7598520" y="2679120"/>
            <a:ext cx="1864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Database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9"/>
          <p:cNvSpPr/>
          <p:nvPr/>
        </p:nvSpPr>
        <p:spPr>
          <a:xfrm>
            <a:off x="7598520" y="3154680"/>
            <a:ext cx="186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3fa9a4"/>
                </a:solidFill>
                <a:latin typeface="Calibri"/>
                <a:ea typeface="Calibri"/>
              </a:rPr>
              <a:t>SQLite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30"/>
          <p:cNvSpPr/>
          <p:nvPr/>
        </p:nvSpPr>
        <p:spPr>
          <a:xfrm>
            <a:off x="7662600" y="356616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Every assessment saved automatically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31"/>
          <p:cNvSpPr/>
          <p:nvPr/>
        </p:nvSpPr>
        <p:spPr>
          <a:xfrm>
            <a:off x="7662600" y="407808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Patient ledger always visible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32"/>
          <p:cNvSpPr/>
          <p:nvPr/>
        </p:nvSpPr>
        <p:spPr>
          <a:xfrm>
            <a:off x="9765720" y="1691640"/>
            <a:ext cx="2139120" cy="44341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3"/>
          <p:cNvSpPr/>
          <p:nvPr/>
        </p:nvSpPr>
        <p:spPr>
          <a:xfrm>
            <a:off x="10492920" y="1915560"/>
            <a:ext cx="685080" cy="68508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8" name="Image 4" descr="icons/desktop_white.png"/>
          <p:cNvPicPr/>
          <p:nvPr/>
        </p:nvPicPr>
        <p:blipFill>
          <a:blip r:embed="rId5"/>
          <a:stretch/>
        </p:blipFill>
        <p:spPr>
          <a:xfrm>
            <a:off x="10664280" y="2087280"/>
            <a:ext cx="342360" cy="342360"/>
          </a:xfrm>
          <a:prstGeom prst="rect">
            <a:avLst/>
          </a:prstGeom>
          <a:ln w="0">
            <a:noFill/>
          </a:ln>
        </p:spPr>
      </p:pic>
      <p:sp>
        <p:nvSpPr>
          <p:cNvPr id="199" name="Text 34"/>
          <p:cNvSpPr/>
          <p:nvPr/>
        </p:nvSpPr>
        <p:spPr>
          <a:xfrm>
            <a:off x="9902880" y="2679120"/>
            <a:ext cx="18648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Interface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5"/>
          <p:cNvSpPr/>
          <p:nvPr/>
        </p:nvSpPr>
        <p:spPr>
          <a:xfrm>
            <a:off x="9902880" y="3154680"/>
            <a:ext cx="1864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3fa9a4"/>
                </a:solidFill>
                <a:latin typeface="Calibri"/>
                <a:ea typeface="Calibri"/>
              </a:rPr>
              <a:t>Streamlit + Plotly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6"/>
          <p:cNvSpPr/>
          <p:nvPr/>
        </p:nvSpPr>
        <p:spPr>
          <a:xfrm>
            <a:off x="9966960" y="356616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Dark clinical theme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7"/>
          <p:cNvSpPr/>
          <p:nvPr/>
        </p:nvSpPr>
        <p:spPr>
          <a:xfrm>
            <a:off x="9966960" y="407808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Live spectrogram with healthy-range overlay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38"/>
          <p:cNvSpPr/>
          <p:nvPr/>
        </p:nvSpPr>
        <p:spPr>
          <a:xfrm>
            <a:off x="9966960" y="4590360"/>
            <a:ext cx="1755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127080" indent="-127080" defTabSz="914400">
              <a:lnSpc>
                <a:spcPct val="110000"/>
              </a:lnSpc>
              <a:buClr>
                <a:srgbClr val="5c7274"/>
              </a:buClr>
              <a:buFont typeface="Symbol" charset="2"/>
              <a:buChar char=""/>
            </a:pPr>
            <a:r>
              <a:rPr b="0" lang="en-US" sz="970" spc="-1" strike="noStrike">
                <a:solidFill>
                  <a:srgbClr val="5c7274"/>
                </a:solidFill>
                <a:latin typeface="Calibri"/>
                <a:ea typeface="Calibri"/>
              </a:rPr>
              <a:t>Model locked to disk instant ~5s startup</a:t>
            </a:r>
            <a:endParaRPr b="0" lang="en-US" sz="9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548640" y="38412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0f6e70"/>
                </a:solidFill>
                <a:latin typeface="Calibri"/>
                <a:ea typeface="Calibri"/>
              </a:rPr>
              <a:t>LIVE DEMO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548640" y="658440"/>
            <a:ext cx="8686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7282a"/>
                </a:solidFill>
                <a:latin typeface="Cambria"/>
                <a:ea typeface="Cambria"/>
              </a:rPr>
              <a:t>What you’ll see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1136880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06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457200" y="6400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145" strike="noStrike">
                <a:solidFill>
                  <a:srgbClr val="5c7274"/>
                </a:solidFill>
                <a:latin typeface="Calibri"/>
                <a:ea typeface="Calibri"/>
              </a:rPr>
              <a:t>PROJECT HUMURA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4"/>
          <p:cNvSpPr/>
          <p:nvPr/>
        </p:nvSpPr>
        <p:spPr>
          <a:xfrm>
            <a:off x="631080" y="169164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0" descr="icons/filemedical_white.png"/>
          <p:cNvPicPr/>
          <p:nvPr/>
        </p:nvPicPr>
        <p:blipFill>
          <a:blip r:embed="rId1"/>
          <a:stretch/>
        </p:blipFill>
        <p:spPr>
          <a:xfrm>
            <a:off x="795600" y="185616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10" name="Text 5"/>
          <p:cNvSpPr/>
          <p:nvPr/>
        </p:nvSpPr>
        <p:spPr>
          <a:xfrm>
            <a:off x="137160" y="16185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4f51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1417320" y="1691640"/>
            <a:ext cx="9051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7282a"/>
                </a:solidFill>
                <a:latin typeface="Cambria"/>
                <a:ea typeface="Cambria"/>
              </a:rPr>
              <a:t>Patient form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1417320" y="2002680"/>
            <a:ext cx="941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5c7274"/>
                </a:solidFill>
                <a:latin typeface="Calibri"/>
                <a:ea typeface="Calibri"/>
              </a:rPr>
              <a:t>Enter baby details — age, temperature, heart rate.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631080" y="253296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4" name="Image 1" descr="icons/mic_white.png"/>
          <p:cNvPicPr/>
          <p:nvPr/>
        </p:nvPicPr>
        <p:blipFill>
          <a:blip r:embed="rId2"/>
          <a:stretch/>
        </p:blipFill>
        <p:spPr>
          <a:xfrm>
            <a:off x="795600" y="26974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15" name="Text 9"/>
          <p:cNvSpPr/>
          <p:nvPr/>
        </p:nvSpPr>
        <p:spPr>
          <a:xfrm>
            <a:off x="137160" y="24598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4f51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1417320" y="2532960"/>
            <a:ext cx="9051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7282a"/>
                </a:solidFill>
                <a:latin typeface="Cambria"/>
                <a:ea typeface="Cambria"/>
              </a:rPr>
              <a:t>Pick an audio source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1417320" y="2843640"/>
            <a:ext cx="941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5c7274"/>
                </a:solidFill>
                <a:latin typeface="Calibri"/>
                <a:ea typeface="Calibri"/>
              </a:rPr>
              <a:t>Live mic recording, an uploaded file, or a pre-loaded simulated test profile.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631080" y="337428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9" name="Image 2" descr="icons/bolt_white.png"/>
          <p:cNvPicPr/>
          <p:nvPr/>
        </p:nvPicPr>
        <p:blipFill>
          <a:blip r:embed="rId3"/>
          <a:stretch/>
        </p:blipFill>
        <p:spPr>
          <a:xfrm>
            <a:off x="795600" y="353880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20" name="Text 13"/>
          <p:cNvSpPr/>
          <p:nvPr/>
        </p:nvSpPr>
        <p:spPr>
          <a:xfrm>
            <a:off x="137160" y="33008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4f51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1417320" y="3374280"/>
            <a:ext cx="9051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7282a"/>
                </a:solidFill>
                <a:latin typeface="Cambria"/>
                <a:ea typeface="Cambria"/>
              </a:rPr>
              <a:t>Run triage analysis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1417320" y="3684960"/>
            <a:ext cx="941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5c7274"/>
                </a:solidFill>
                <a:latin typeface="Calibri"/>
                <a:ea typeface="Calibri"/>
              </a:rPr>
              <a:t>One click starts the full two-tier pipeline.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6"/>
          <p:cNvSpPr/>
          <p:nvPr/>
        </p:nvSpPr>
        <p:spPr>
          <a:xfrm>
            <a:off x="631080" y="421524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Image 3" descr="icons/wave_white.png"/>
          <p:cNvPicPr/>
          <p:nvPr/>
        </p:nvPicPr>
        <p:blipFill>
          <a:blip r:embed="rId4"/>
          <a:stretch/>
        </p:blipFill>
        <p:spPr>
          <a:xfrm>
            <a:off x="795600" y="43801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25" name="Text 17"/>
          <p:cNvSpPr/>
          <p:nvPr/>
        </p:nvSpPr>
        <p:spPr>
          <a:xfrm>
            <a:off x="137160" y="41421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4f51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8"/>
          <p:cNvSpPr/>
          <p:nvPr/>
        </p:nvSpPr>
        <p:spPr>
          <a:xfrm>
            <a:off x="1417320" y="4215240"/>
            <a:ext cx="9051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7282a"/>
                </a:solidFill>
                <a:latin typeface="Cambria"/>
                <a:ea typeface="Cambria"/>
              </a:rPr>
              <a:t>Results appear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1417320" y="4526280"/>
            <a:ext cx="941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5c7274"/>
                </a:solidFill>
                <a:latin typeface="Calibri"/>
                <a:ea typeface="Calibri"/>
              </a:rPr>
              <a:t>Spectrogram, feature indicators, a green/red alert banner, an AI-written clinical brief and a ready-to-copy referral letter.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0"/>
          <p:cNvSpPr/>
          <p:nvPr/>
        </p:nvSpPr>
        <p:spPr>
          <a:xfrm>
            <a:off x="631080" y="505656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4" descr="icons/database_white.png"/>
          <p:cNvPicPr/>
          <p:nvPr/>
        </p:nvPicPr>
        <p:blipFill>
          <a:blip r:embed="rId5"/>
          <a:stretch/>
        </p:blipFill>
        <p:spPr>
          <a:xfrm>
            <a:off x="795600" y="522108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30" name="Text 21"/>
          <p:cNvSpPr/>
          <p:nvPr/>
        </p:nvSpPr>
        <p:spPr>
          <a:xfrm>
            <a:off x="137160" y="49834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b4f51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2"/>
          <p:cNvSpPr/>
          <p:nvPr/>
        </p:nvSpPr>
        <p:spPr>
          <a:xfrm>
            <a:off x="1417320" y="5056560"/>
            <a:ext cx="9051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7282a"/>
                </a:solidFill>
                <a:latin typeface="Cambria"/>
                <a:ea typeface="Cambria"/>
              </a:rPr>
              <a:t>Saved automatically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3"/>
          <p:cNvSpPr/>
          <p:nvPr/>
        </p:nvSpPr>
        <p:spPr>
          <a:xfrm>
            <a:off x="1417320" y="5367600"/>
            <a:ext cx="9417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20" spc="-1" strike="noStrike">
                <a:solidFill>
                  <a:srgbClr val="5c7274"/>
                </a:solidFill>
                <a:latin typeface="Calibri"/>
                <a:ea typeface="Calibri"/>
              </a:rPr>
              <a:t>Every assessment is logged to the patient ledger.</a:t>
            </a:r>
            <a:endParaRPr b="0" lang="en-US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4"/>
          <p:cNvSpPr/>
          <p:nvPr/>
        </p:nvSpPr>
        <p:spPr>
          <a:xfrm>
            <a:off x="548640" y="6035040"/>
            <a:ext cx="11063520" cy="776520"/>
          </a:xfrm>
          <a:prstGeom prst="roundRect">
            <a:avLst>
              <a:gd name="adj" fmla="val 9412"/>
            </a:avLst>
          </a:prstGeom>
          <a:solidFill>
            <a:srgbClr val="eaf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25"/>
          <p:cNvSpPr/>
          <p:nvPr/>
        </p:nvSpPr>
        <p:spPr>
          <a:xfrm>
            <a:off x="891720" y="6172200"/>
            <a:ext cx="502200" cy="502200"/>
          </a:xfrm>
          <a:prstGeom prst="ellipse">
            <a:avLst/>
          </a:prstGeom>
          <a:solidFill>
            <a:srgbClr val="2e9e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5" name="Image 5" descr="icons/check_white.png"/>
          <p:cNvPicPr/>
          <p:nvPr/>
        </p:nvPicPr>
        <p:blipFill>
          <a:blip r:embed="rId6"/>
          <a:stretch/>
        </p:blipFill>
        <p:spPr>
          <a:xfrm>
            <a:off x="1004760" y="6285240"/>
            <a:ext cx="275760" cy="275760"/>
          </a:xfrm>
          <a:prstGeom prst="rect">
            <a:avLst/>
          </a:prstGeom>
          <a:ln w="0">
            <a:noFill/>
          </a:ln>
        </p:spPr>
      </p:pic>
      <p:sp>
        <p:nvSpPr>
          <p:cNvPr id="236" name="Text 26"/>
          <p:cNvSpPr/>
          <p:nvPr/>
        </p:nvSpPr>
        <p:spPr>
          <a:xfrm>
            <a:off x="1554480" y="6153840"/>
            <a:ext cx="9783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6b3e"/>
                </a:solidFill>
                <a:latin typeface="Calibri"/>
                <a:ea typeface="Calibri"/>
              </a:rPr>
              <a:t>Fail-safe by design:  </a:t>
            </a:r>
            <a:r>
              <a:rPr b="0" lang="en-US" sz="1200" spc="-1" strike="noStrike">
                <a:solidFill>
                  <a:srgbClr val="2e4a3a"/>
                </a:solidFill>
                <a:latin typeface="Calibri"/>
                <a:ea typeface="Calibri"/>
              </a:rPr>
              <a:t>if the room is noisy, simulated test profiles guarantee the demo never fails.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548640" y="38412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0f6e70"/>
                </a:solidFill>
                <a:latin typeface="Calibri"/>
                <a:ea typeface="Calibri"/>
              </a:rPr>
              <a:t>IMPACT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548640" y="658440"/>
            <a:ext cx="8686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7282a"/>
                </a:solidFill>
                <a:latin typeface="Cambria"/>
                <a:ea typeface="Cambria"/>
              </a:rPr>
              <a:t>Why this wins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1136880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07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457200" y="6400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145" strike="noStrike">
                <a:solidFill>
                  <a:srgbClr val="5c7274"/>
                </a:solidFill>
                <a:latin typeface="Calibri"/>
                <a:ea typeface="Calibri"/>
              </a:rPr>
              <a:t>PROJECT HUMURA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4"/>
          <p:cNvSpPr/>
          <p:nvPr/>
        </p:nvSpPr>
        <p:spPr>
          <a:xfrm>
            <a:off x="548640" y="1691640"/>
            <a:ext cx="358380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5"/>
          <p:cNvSpPr/>
          <p:nvPr/>
        </p:nvSpPr>
        <p:spPr>
          <a:xfrm>
            <a:off x="786240" y="192924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" name="Image 0" descr="icons/clock_white.png"/>
          <p:cNvPicPr/>
          <p:nvPr/>
        </p:nvPicPr>
        <p:blipFill>
          <a:blip r:embed="rId1"/>
          <a:stretch/>
        </p:blipFill>
        <p:spPr>
          <a:xfrm>
            <a:off x="951120" y="20941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44" name="Text 6"/>
          <p:cNvSpPr/>
          <p:nvPr/>
        </p:nvSpPr>
        <p:spPr>
          <a:xfrm>
            <a:off x="1600200" y="1856160"/>
            <a:ext cx="2395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7282a"/>
                </a:solidFill>
                <a:latin typeface="Cambria"/>
                <a:ea typeface="Cambria"/>
              </a:rPr>
              <a:t>5 newborns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1600200" y="2221920"/>
            <a:ext cx="2395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die every minute, most from detectable causes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4288680" y="1691640"/>
            <a:ext cx="358380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4526280" y="192924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8" name="Image 1" descr="icons/dollar_white.png"/>
          <p:cNvPicPr/>
          <p:nvPr/>
        </p:nvPicPr>
        <p:blipFill>
          <a:blip r:embed="rId2"/>
          <a:stretch/>
        </p:blipFill>
        <p:spPr>
          <a:xfrm>
            <a:off x="4690800" y="20941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49" name="Text 10"/>
          <p:cNvSpPr/>
          <p:nvPr/>
        </p:nvSpPr>
        <p:spPr>
          <a:xfrm>
            <a:off x="5340240" y="1856160"/>
            <a:ext cx="2395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7282a"/>
                </a:solidFill>
                <a:latin typeface="Cambria"/>
                <a:ea typeface="Cambria"/>
              </a:rPr>
              <a:t>~$0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5340240" y="2221920"/>
            <a:ext cx="2395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cost per deployment, open source, any laptop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2"/>
          <p:cNvSpPr/>
          <p:nvPr/>
        </p:nvSpPr>
        <p:spPr>
          <a:xfrm>
            <a:off x="8028360" y="1691640"/>
            <a:ext cx="358380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3"/>
          <p:cNvSpPr/>
          <p:nvPr/>
        </p:nvSpPr>
        <p:spPr>
          <a:xfrm>
            <a:off x="8266320" y="192924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3" name="Image 2" descr="icons/wifi_white.png"/>
          <p:cNvPicPr/>
          <p:nvPr/>
        </p:nvPicPr>
        <p:blipFill>
          <a:blip r:embed="rId3"/>
          <a:stretch/>
        </p:blipFill>
        <p:spPr>
          <a:xfrm>
            <a:off x="8430840" y="20941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54" name="Text 14"/>
          <p:cNvSpPr/>
          <p:nvPr/>
        </p:nvSpPr>
        <p:spPr>
          <a:xfrm>
            <a:off x="9079920" y="1856160"/>
            <a:ext cx="2395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7282a"/>
                </a:solidFill>
                <a:latin typeface="Cambria"/>
                <a:ea typeface="Cambria"/>
              </a:rPr>
              <a:t>Optional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5"/>
          <p:cNvSpPr/>
          <p:nvPr/>
        </p:nvSpPr>
        <p:spPr>
          <a:xfrm>
            <a:off x="9079920" y="2221920"/>
            <a:ext cx="2395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internet needed, Tier 1 runs fully offline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6"/>
          <p:cNvSpPr/>
          <p:nvPr/>
        </p:nvSpPr>
        <p:spPr>
          <a:xfrm>
            <a:off x="548640" y="3291840"/>
            <a:ext cx="358380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7"/>
          <p:cNvSpPr/>
          <p:nvPr/>
        </p:nvSpPr>
        <p:spPr>
          <a:xfrm>
            <a:off x="786240" y="352944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8" name="Image 3" descr="icons/usermd_white.png"/>
          <p:cNvPicPr/>
          <p:nvPr/>
        </p:nvPicPr>
        <p:blipFill>
          <a:blip r:embed="rId4"/>
          <a:stretch/>
        </p:blipFill>
        <p:spPr>
          <a:xfrm>
            <a:off x="951120" y="36943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59" name="Text 18"/>
          <p:cNvSpPr/>
          <p:nvPr/>
        </p:nvSpPr>
        <p:spPr>
          <a:xfrm>
            <a:off x="1600200" y="3456360"/>
            <a:ext cx="2395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7282a"/>
                </a:solidFill>
                <a:latin typeface="Cambria"/>
                <a:ea typeface="Cambria"/>
              </a:rPr>
              <a:t>Rural midwife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9"/>
          <p:cNvSpPr/>
          <p:nvPr/>
        </p:nvSpPr>
        <p:spPr>
          <a:xfrm>
            <a:off x="1600200" y="3822120"/>
            <a:ext cx="2395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the user, no specialist training required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0"/>
          <p:cNvSpPr/>
          <p:nvPr/>
        </p:nvSpPr>
        <p:spPr>
          <a:xfrm>
            <a:off x="4288680" y="3291840"/>
            <a:ext cx="358380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1"/>
          <p:cNvSpPr/>
          <p:nvPr/>
        </p:nvSpPr>
        <p:spPr>
          <a:xfrm>
            <a:off x="4526280" y="352944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3" name="Image 4" descr="icons/chartbar_white.png"/>
          <p:cNvPicPr/>
          <p:nvPr/>
        </p:nvPicPr>
        <p:blipFill>
          <a:blip r:embed="rId5"/>
          <a:stretch/>
        </p:blipFill>
        <p:spPr>
          <a:xfrm>
            <a:off x="4690800" y="36943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64" name="Text 22"/>
          <p:cNvSpPr/>
          <p:nvPr/>
        </p:nvSpPr>
        <p:spPr>
          <a:xfrm>
            <a:off x="5340240" y="3456360"/>
            <a:ext cx="2395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7282a"/>
                </a:solidFill>
                <a:latin typeface="Cambria"/>
                <a:ea typeface="Cambria"/>
              </a:rPr>
              <a:t>1 : 1000s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23"/>
          <p:cNvSpPr/>
          <p:nvPr/>
        </p:nvSpPr>
        <p:spPr>
          <a:xfrm>
            <a:off x="5340240" y="3822120"/>
            <a:ext cx="2395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one laptop can support thousands of babies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4"/>
          <p:cNvSpPr/>
          <p:nvPr/>
        </p:nvSpPr>
        <p:spPr>
          <a:xfrm>
            <a:off x="8028360" y="3291840"/>
            <a:ext cx="3583800" cy="14166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5"/>
          <p:cNvSpPr/>
          <p:nvPr/>
        </p:nvSpPr>
        <p:spPr>
          <a:xfrm>
            <a:off x="8266320" y="3529440"/>
            <a:ext cx="657720" cy="6577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8" name="Image 5" descr="icons/heartbeat_white.png"/>
          <p:cNvPicPr/>
          <p:nvPr/>
        </p:nvPicPr>
        <p:blipFill>
          <a:blip r:embed="rId6"/>
          <a:stretch/>
        </p:blipFill>
        <p:spPr>
          <a:xfrm>
            <a:off x="8430840" y="3694320"/>
            <a:ext cx="328320" cy="328320"/>
          </a:xfrm>
          <a:prstGeom prst="rect">
            <a:avLst/>
          </a:prstGeom>
          <a:ln w="0">
            <a:noFill/>
          </a:ln>
        </p:spPr>
      </p:pic>
      <p:sp>
        <p:nvSpPr>
          <p:cNvPr id="269" name="Text 26"/>
          <p:cNvSpPr/>
          <p:nvPr/>
        </p:nvSpPr>
        <p:spPr>
          <a:xfrm>
            <a:off x="9079920" y="3456360"/>
            <a:ext cx="2395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7282a"/>
                </a:solidFill>
                <a:latin typeface="Cambria"/>
                <a:ea typeface="Cambria"/>
              </a:rPr>
              <a:t>Real AI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27"/>
          <p:cNvSpPr/>
          <p:nvPr/>
        </p:nvSpPr>
        <p:spPr>
          <a:xfrm>
            <a:off x="9079920" y="3822120"/>
            <a:ext cx="2395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274"/>
                </a:solidFill>
                <a:latin typeface="Calibri"/>
                <a:ea typeface="Calibri"/>
              </a:rPr>
              <a:t>trained on real infant cries, not synthetic-only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0"/>
          <p:cNvSpPr/>
          <p:nvPr/>
        </p:nvSpPr>
        <p:spPr>
          <a:xfrm>
            <a:off x="548640" y="38412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7" strike="noStrike">
                <a:solidFill>
                  <a:srgbClr val="0f6e70"/>
                </a:solidFill>
                <a:latin typeface="Calibri"/>
                <a:ea typeface="Calibri"/>
              </a:rPr>
              <a:t>WHAT'S NEXT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"/>
          <p:cNvSpPr/>
          <p:nvPr/>
        </p:nvSpPr>
        <p:spPr>
          <a:xfrm>
            <a:off x="548640" y="658440"/>
            <a:ext cx="8686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7282a"/>
                </a:solidFill>
                <a:latin typeface="Cambria"/>
                <a:ea typeface="Cambria"/>
              </a:rPr>
              <a:t>The road ahead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11368800" y="640080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08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3"/>
          <p:cNvSpPr/>
          <p:nvPr/>
        </p:nvSpPr>
        <p:spPr>
          <a:xfrm>
            <a:off x="457200" y="6400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145" strike="noStrike">
                <a:solidFill>
                  <a:srgbClr val="5c7274"/>
                </a:solidFill>
                <a:latin typeface="Calibri"/>
                <a:ea typeface="Calibri"/>
              </a:rPr>
              <a:t>PROJECT HUMURA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548640" y="1691640"/>
            <a:ext cx="2120760" cy="2833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1243440" y="1947600"/>
            <a:ext cx="730800" cy="730800"/>
          </a:xfrm>
          <a:prstGeom prst="ellipse">
            <a:avLst/>
          </a:prstGeom>
          <a:solidFill>
            <a:srgbClr val="3fa9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7" name="Image 0" descr="icons/mobile_white.png"/>
          <p:cNvPicPr/>
          <p:nvPr/>
        </p:nvPicPr>
        <p:blipFill>
          <a:blip r:embed="rId1"/>
          <a:stretch/>
        </p:blipFill>
        <p:spPr>
          <a:xfrm>
            <a:off x="1426320" y="21304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78" name="Text 6"/>
          <p:cNvSpPr/>
          <p:nvPr/>
        </p:nvSpPr>
        <p:spPr>
          <a:xfrm>
            <a:off x="685800" y="2807280"/>
            <a:ext cx="184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Mobile app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731520" y="3319200"/>
            <a:ext cx="17550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Runs natively on a phone in the midwife’s pocket.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2843640" y="1691640"/>
            <a:ext cx="2120760" cy="2833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3538800" y="1947600"/>
            <a:ext cx="730800" cy="730800"/>
          </a:xfrm>
          <a:prstGeom prst="ellipse">
            <a:avLst/>
          </a:prstGeom>
          <a:solidFill>
            <a:srgbClr val="3fa9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2" name="Image 1" descr="icons/flask_white.png"/>
          <p:cNvPicPr/>
          <p:nvPr/>
        </p:nvPicPr>
        <p:blipFill>
          <a:blip r:embed="rId2"/>
          <a:stretch/>
        </p:blipFill>
        <p:spPr>
          <a:xfrm>
            <a:off x="3721680" y="21304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83" name="Text 10"/>
          <p:cNvSpPr/>
          <p:nvPr/>
        </p:nvSpPr>
        <p:spPr>
          <a:xfrm>
            <a:off x="2980800" y="2807280"/>
            <a:ext cx="184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Clinical validation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3026520" y="3319200"/>
            <a:ext cx="17550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Test and calibrate against real hospital data.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2"/>
          <p:cNvSpPr/>
          <p:nvPr/>
        </p:nvSpPr>
        <p:spPr>
          <a:xfrm>
            <a:off x="5139000" y="1691640"/>
            <a:ext cx="2120760" cy="2833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13"/>
          <p:cNvSpPr/>
          <p:nvPr/>
        </p:nvSpPr>
        <p:spPr>
          <a:xfrm>
            <a:off x="5833800" y="1947600"/>
            <a:ext cx="730800" cy="730800"/>
          </a:xfrm>
          <a:prstGeom prst="ellipse">
            <a:avLst/>
          </a:prstGeom>
          <a:solidFill>
            <a:srgbClr val="3fa9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7" name="Image 2" descr="icons/brain_white.png"/>
          <p:cNvPicPr/>
          <p:nvPr/>
        </p:nvPicPr>
        <p:blipFill>
          <a:blip r:embed="rId3"/>
          <a:stretch/>
        </p:blipFill>
        <p:spPr>
          <a:xfrm>
            <a:off x="6016680" y="21304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88" name="Text 14"/>
          <p:cNvSpPr/>
          <p:nvPr/>
        </p:nvSpPr>
        <p:spPr>
          <a:xfrm>
            <a:off x="5276160" y="2807280"/>
            <a:ext cx="184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Smarter model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5"/>
          <p:cNvSpPr/>
          <p:nvPr/>
        </p:nvSpPr>
        <p:spPr>
          <a:xfrm>
            <a:off x="5321880" y="3319200"/>
            <a:ext cx="17550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Multi-class CNN on mel-spectrograms hunger, pain, discomfort, using labels we already have.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6"/>
          <p:cNvSpPr/>
          <p:nvPr/>
        </p:nvSpPr>
        <p:spPr>
          <a:xfrm>
            <a:off x="7434000" y="1691640"/>
            <a:ext cx="2120760" cy="2833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7"/>
          <p:cNvSpPr/>
          <p:nvPr/>
        </p:nvSpPr>
        <p:spPr>
          <a:xfrm>
            <a:off x="8129160" y="1947600"/>
            <a:ext cx="730800" cy="730800"/>
          </a:xfrm>
          <a:prstGeom prst="ellipse">
            <a:avLst/>
          </a:prstGeom>
          <a:solidFill>
            <a:srgbClr val="3fa9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2" name="Image 3" descr="icons/broadcast_white.png"/>
          <p:cNvPicPr/>
          <p:nvPr/>
        </p:nvPicPr>
        <p:blipFill>
          <a:blip r:embed="rId4"/>
          <a:stretch/>
        </p:blipFill>
        <p:spPr>
          <a:xfrm>
            <a:off x="8312040" y="21304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93" name="Text 18"/>
          <p:cNvSpPr/>
          <p:nvPr/>
        </p:nvSpPr>
        <p:spPr>
          <a:xfrm>
            <a:off x="7571160" y="2807280"/>
            <a:ext cx="184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Mesh network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9"/>
          <p:cNvSpPr/>
          <p:nvPr/>
        </p:nvSpPr>
        <p:spPr>
          <a:xfrm>
            <a:off x="7616880" y="3319200"/>
            <a:ext cx="17550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Share assessments between clinics without internet.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20"/>
          <p:cNvSpPr/>
          <p:nvPr/>
        </p:nvSpPr>
        <p:spPr>
          <a:xfrm>
            <a:off x="9729360" y="1691640"/>
            <a:ext cx="2120760" cy="2833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21"/>
          <p:cNvSpPr/>
          <p:nvPr/>
        </p:nvSpPr>
        <p:spPr>
          <a:xfrm>
            <a:off x="10424160" y="1947600"/>
            <a:ext cx="730800" cy="730800"/>
          </a:xfrm>
          <a:prstGeom prst="ellipse">
            <a:avLst/>
          </a:prstGeom>
          <a:solidFill>
            <a:srgbClr val="3fa9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7" name="Image 4" descr="icons/language_white.png"/>
          <p:cNvPicPr/>
          <p:nvPr/>
        </p:nvPicPr>
        <p:blipFill>
          <a:blip r:embed="rId5"/>
          <a:stretch/>
        </p:blipFill>
        <p:spPr>
          <a:xfrm>
            <a:off x="10607040" y="213048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298" name="Text 22"/>
          <p:cNvSpPr/>
          <p:nvPr/>
        </p:nvSpPr>
        <p:spPr>
          <a:xfrm>
            <a:off x="9866520" y="2807280"/>
            <a:ext cx="18464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7282a"/>
                </a:solidFill>
                <a:latin typeface="Cambria"/>
                <a:ea typeface="Cambria"/>
              </a:rPr>
              <a:t>Local languages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3"/>
          <p:cNvSpPr/>
          <p:nvPr/>
        </p:nvSpPr>
        <p:spPr>
          <a:xfrm>
            <a:off x="9912240" y="3319200"/>
            <a:ext cx="175500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274"/>
                </a:solidFill>
                <a:latin typeface="Calibri"/>
                <a:ea typeface="Calibri"/>
              </a:rPr>
              <a:t>Voice results in Kinyarwanda and Swahili.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4"/>
          <p:cNvSpPr/>
          <p:nvPr/>
        </p:nvSpPr>
        <p:spPr>
          <a:xfrm>
            <a:off x="548640" y="4892040"/>
            <a:ext cx="11063520" cy="867960"/>
          </a:xfrm>
          <a:prstGeom prst="roundRect">
            <a:avLst>
              <a:gd name="adj" fmla="val 8421"/>
            </a:avLst>
          </a:prstGeom>
          <a:solidFill>
            <a:srgbClr val="0b2e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1" name="Image 5" descr="icons/heartbeat_white.png"/>
          <p:cNvPicPr/>
          <p:nvPr/>
        </p:nvPicPr>
        <p:blipFill>
          <a:blip r:embed="rId6"/>
          <a:stretch/>
        </p:blipFill>
        <p:spPr>
          <a:xfrm>
            <a:off x="914400" y="5175360"/>
            <a:ext cx="319320" cy="319320"/>
          </a:xfrm>
          <a:prstGeom prst="rect">
            <a:avLst/>
          </a:prstGeom>
          <a:ln w="0">
            <a:noFill/>
          </a:ln>
        </p:spPr>
      </p:pic>
      <p:sp>
        <p:nvSpPr>
          <p:cNvPr id="302" name="Text 25"/>
          <p:cNvSpPr/>
          <p:nvPr/>
        </p:nvSpPr>
        <p:spPr>
          <a:xfrm>
            <a:off x="1417320" y="4892040"/>
            <a:ext cx="98748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One laptop. One midwife. One cry at a time  and today, it already works.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0" y="675000"/>
            <a:ext cx="118440" cy="4784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1"/>
          <p:cNvSpPr/>
          <p:nvPr/>
        </p:nvSpPr>
        <p:spPr>
          <a:xfrm>
            <a:off x="264960" y="651240"/>
            <a:ext cx="118440" cy="5259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2"/>
          <p:cNvSpPr/>
          <p:nvPr/>
        </p:nvSpPr>
        <p:spPr>
          <a:xfrm>
            <a:off x="529920" y="801360"/>
            <a:ext cx="118440" cy="2253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795240" y="758160"/>
            <a:ext cx="118440" cy="3121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1060200" y="690840"/>
            <a:ext cx="118440" cy="4464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5"/>
          <p:cNvSpPr/>
          <p:nvPr/>
        </p:nvSpPr>
        <p:spPr>
          <a:xfrm>
            <a:off x="1325160" y="669600"/>
            <a:ext cx="118440" cy="4892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6"/>
          <p:cNvSpPr/>
          <p:nvPr/>
        </p:nvSpPr>
        <p:spPr>
          <a:xfrm>
            <a:off x="1590120" y="813960"/>
            <a:ext cx="118440" cy="2005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7"/>
          <p:cNvSpPr/>
          <p:nvPr/>
        </p:nvSpPr>
        <p:spPr>
          <a:xfrm>
            <a:off x="1855080" y="543960"/>
            <a:ext cx="118440" cy="7405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2120400" y="641520"/>
            <a:ext cx="118440" cy="5450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9"/>
          <p:cNvSpPr/>
          <p:nvPr/>
        </p:nvSpPr>
        <p:spPr>
          <a:xfrm>
            <a:off x="2385360" y="701640"/>
            <a:ext cx="118440" cy="4248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0"/>
          <p:cNvSpPr/>
          <p:nvPr/>
        </p:nvSpPr>
        <p:spPr>
          <a:xfrm>
            <a:off x="2650320" y="744480"/>
            <a:ext cx="118440" cy="3394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11"/>
          <p:cNvSpPr/>
          <p:nvPr/>
        </p:nvSpPr>
        <p:spPr>
          <a:xfrm>
            <a:off x="2915280" y="576720"/>
            <a:ext cx="118440" cy="6746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12"/>
          <p:cNvSpPr/>
          <p:nvPr/>
        </p:nvSpPr>
        <p:spPr>
          <a:xfrm>
            <a:off x="3180600" y="618480"/>
            <a:ext cx="118440" cy="5911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13"/>
          <p:cNvSpPr/>
          <p:nvPr/>
        </p:nvSpPr>
        <p:spPr>
          <a:xfrm>
            <a:off x="3445560" y="814320"/>
            <a:ext cx="118440" cy="1990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14"/>
          <p:cNvSpPr/>
          <p:nvPr/>
        </p:nvSpPr>
        <p:spPr>
          <a:xfrm>
            <a:off x="3710520" y="672120"/>
            <a:ext cx="118440" cy="483840"/>
          </a:xfrm>
          <a:prstGeom prst="roundRect">
            <a:avLst>
              <a:gd name="adj" fmla="val 50000"/>
            </a:avLst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15"/>
          <p:cNvSpPr/>
          <p:nvPr/>
        </p:nvSpPr>
        <p:spPr>
          <a:xfrm>
            <a:off x="3975480" y="761040"/>
            <a:ext cx="118440" cy="3060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4240440" y="613440"/>
            <a:ext cx="118440" cy="6008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17"/>
          <p:cNvSpPr/>
          <p:nvPr/>
        </p:nvSpPr>
        <p:spPr>
          <a:xfrm>
            <a:off x="4505760" y="786960"/>
            <a:ext cx="118440" cy="2541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18"/>
          <p:cNvSpPr/>
          <p:nvPr/>
        </p:nvSpPr>
        <p:spPr>
          <a:xfrm>
            <a:off x="4770720" y="651240"/>
            <a:ext cx="118440" cy="5256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19"/>
          <p:cNvSpPr/>
          <p:nvPr/>
        </p:nvSpPr>
        <p:spPr>
          <a:xfrm>
            <a:off x="5035680" y="676080"/>
            <a:ext cx="118440" cy="4762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20"/>
          <p:cNvSpPr/>
          <p:nvPr/>
        </p:nvSpPr>
        <p:spPr>
          <a:xfrm>
            <a:off x="5300640" y="780840"/>
            <a:ext cx="118440" cy="2664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Shape 21"/>
          <p:cNvSpPr/>
          <p:nvPr/>
        </p:nvSpPr>
        <p:spPr>
          <a:xfrm>
            <a:off x="5565600" y="823320"/>
            <a:ext cx="118440" cy="1810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22"/>
          <p:cNvSpPr/>
          <p:nvPr/>
        </p:nvSpPr>
        <p:spPr>
          <a:xfrm>
            <a:off x="5830920" y="523440"/>
            <a:ext cx="118440" cy="7812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23"/>
          <p:cNvSpPr/>
          <p:nvPr/>
        </p:nvSpPr>
        <p:spPr>
          <a:xfrm>
            <a:off x="6095880" y="513000"/>
            <a:ext cx="118440" cy="80208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24"/>
          <p:cNvSpPr/>
          <p:nvPr/>
        </p:nvSpPr>
        <p:spPr>
          <a:xfrm>
            <a:off x="6360840" y="799560"/>
            <a:ext cx="118440" cy="2289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25"/>
          <p:cNvSpPr/>
          <p:nvPr/>
        </p:nvSpPr>
        <p:spPr>
          <a:xfrm>
            <a:off x="6625800" y="690480"/>
            <a:ext cx="118440" cy="4471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26"/>
          <p:cNvSpPr/>
          <p:nvPr/>
        </p:nvSpPr>
        <p:spPr>
          <a:xfrm>
            <a:off x="6891120" y="518040"/>
            <a:ext cx="118440" cy="7923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27"/>
          <p:cNvSpPr/>
          <p:nvPr/>
        </p:nvSpPr>
        <p:spPr>
          <a:xfrm>
            <a:off x="7156080" y="776520"/>
            <a:ext cx="118440" cy="275040"/>
          </a:xfrm>
          <a:prstGeom prst="roundRect">
            <a:avLst>
              <a:gd name="adj" fmla="val 50000"/>
            </a:avLst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28"/>
          <p:cNvSpPr/>
          <p:nvPr/>
        </p:nvSpPr>
        <p:spPr>
          <a:xfrm>
            <a:off x="7421040" y="698760"/>
            <a:ext cx="118440" cy="4302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29"/>
          <p:cNvSpPr/>
          <p:nvPr/>
        </p:nvSpPr>
        <p:spPr>
          <a:xfrm>
            <a:off x="7686000" y="654480"/>
            <a:ext cx="118440" cy="5187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30"/>
          <p:cNvSpPr/>
          <p:nvPr/>
        </p:nvSpPr>
        <p:spPr>
          <a:xfrm>
            <a:off x="7950960" y="613800"/>
            <a:ext cx="118440" cy="6008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31"/>
          <p:cNvSpPr/>
          <p:nvPr/>
        </p:nvSpPr>
        <p:spPr>
          <a:xfrm>
            <a:off x="8216280" y="745560"/>
            <a:ext cx="118440" cy="3369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32"/>
          <p:cNvSpPr/>
          <p:nvPr/>
        </p:nvSpPr>
        <p:spPr>
          <a:xfrm>
            <a:off x="8481240" y="783000"/>
            <a:ext cx="118440" cy="2624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33"/>
          <p:cNvSpPr/>
          <p:nvPr/>
        </p:nvSpPr>
        <p:spPr>
          <a:xfrm>
            <a:off x="8746200" y="507600"/>
            <a:ext cx="118440" cy="8125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34"/>
          <p:cNvSpPr/>
          <p:nvPr/>
        </p:nvSpPr>
        <p:spPr>
          <a:xfrm>
            <a:off x="9011160" y="690120"/>
            <a:ext cx="118440" cy="4482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35"/>
          <p:cNvSpPr/>
          <p:nvPr/>
        </p:nvSpPr>
        <p:spPr>
          <a:xfrm>
            <a:off x="9276120" y="761760"/>
            <a:ext cx="118440" cy="3042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36"/>
          <p:cNvSpPr/>
          <p:nvPr/>
        </p:nvSpPr>
        <p:spPr>
          <a:xfrm>
            <a:off x="9541440" y="655920"/>
            <a:ext cx="118440" cy="51660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37"/>
          <p:cNvSpPr/>
          <p:nvPr/>
        </p:nvSpPr>
        <p:spPr>
          <a:xfrm>
            <a:off x="9806400" y="729000"/>
            <a:ext cx="118440" cy="3704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Shape 38"/>
          <p:cNvSpPr/>
          <p:nvPr/>
        </p:nvSpPr>
        <p:spPr>
          <a:xfrm>
            <a:off x="10071360" y="788400"/>
            <a:ext cx="118440" cy="2509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39"/>
          <p:cNvSpPr/>
          <p:nvPr/>
        </p:nvSpPr>
        <p:spPr>
          <a:xfrm>
            <a:off x="10336320" y="579600"/>
            <a:ext cx="118440" cy="668880"/>
          </a:xfrm>
          <a:prstGeom prst="roundRect">
            <a:avLst>
              <a:gd name="adj" fmla="val 50000"/>
            </a:avLst>
          </a:prstGeom>
          <a:solidFill>
            <a:srgbClr val="d94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Shape 40"/>
          <p:cNvSpPr/>
          <p:nvPr/>
        </p:nvSpPr>
        <p:spPr>
          <a:xfrm>
            <a:off x="10601640" y="721800"/>
            <a:ext cx="118440" cy="3848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41"/>
          <p:cNvSpPr/>
          <p:nvPr/>
        </p:nvSpPr>
        <p:spPr>
          <a:xfrm>
            <a:off x="10866600" y="722160"/>
            <a:ext cx="118440" cy="3837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42"/>
          <p:cNvSpPr/>
          <p:nvPr/>
        </p:nvSpPr>
        <p:spPr>
          <a:xfrm>
            <a:off x="11131560" y="813600"/>
            <a:ext cx="118440" cy="20124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43"/>
          <p:cNvSpPr/>
          <p:nvPr/>
        </p:nvSpPr>
        <p:spPr>
          <a:xfrm>
            <a:off x="11396520" y="527760"/>
            <a:ext cx="118440" cy="77256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Shape 44"/>
          <p:cNvSpPr/>
          <p:nvPr/>
        </p:nvSpPr>
        <p:spPr>
          <a:xfrm>
            <a:off x="11661480" y="759960"/>
            <a:ext cx="118440" cy="3085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45"/>
          <p:cNvSpPr/>
          <p:nvPr/>
        </p:nvSpPr>
        <p:spPr>
          <a:xfrm>
            <a:off x="11926800" y="542160"/>
            <a:ext cx="118440" cy="744120"/>
          </a:xfrm>
          <a:prstGeom prst="roundRect">
            <a:avLst>
              <a:gd name="adj" fmla="val 50000"/>
            </a:avLst>
          </a:prstGeom>
          <a:solidFill>
            <a:srgbClr val="154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46"/>
          <p:cNvSpPr/>
          <p:nvPr/>
        </p:nvSpPr>
        <p:spPr>
          <a:xfrm>
            <a:off x="0" y="0"/>
            <a:ext cx="12191040" cy="1325160"/>
          </a:xfrm>
          <a:prstGeom prst="rect">
            <a:avLst/>
          </a:prstGeom>
          <a:solidFill>
            <a:srgbClr val="0b2e30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47"/>
          <p:cNvSpPr/>
          <p:nvPr/>
        </p:nvSpPr>
        <p:spPr>
          <a:xfrm>
            <a:off x="5592960" y="2103120"/>
            <a:ext cx="1005120" cy="1005120"/>
          </a:xfrm>
          <a:prstGeom prst="ellipse">
            <a:avLst/>
          </a:prstGeom>
          <a:solidFill>
            <a:srgbClr val="0f6e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1" name="Image 0" descr="icons/heartbeat_white.png"/>
          <p:cNvPicPr/>
          <p:nvPr/>
        </p:nvPicPr>
        <p:blipFill>
          <a:blip r:embed="rId1"/>
          <a:stretch/>
        </p:blipFill>
        <p:spPr>
          <a:xfrm>
            <a:off x="5819400" y="2329560"/>
            <a:ext cx="552600" cy="552600"/>
          </a:xfrm>
          <a:prstGeom prst="rect">
            <a:avLst/>
          </a:prstGeom>
          <a:ln w="0">
            <a:noFill/>
          </a:ln>
        </p:spPr>
      </p:pic>
      <p:sp>
        <p:nvSpPr>
          <p:cNvPr id="352" name="Text 48"/>
          <p:cNvSpPr/>
          <p:nvPr/>
        </p:nvSpPr>
        <p:spPr>
          <a:xfrm>
            <a:off x="0" y="3246120"/>
            <a:ext cx="121910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49"/>
          <p:cNvSpPr/>
          <p:nvPr/>
        </p:nvSpPr>
        <p:spPr>
          <a:xfrm>
            <a:off x="0" y="4023360"/>
            <a:ext cx="1219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bfe3e1"/>
                </a:solidFill>
                <a:latin typeface="Calibri"/>
                <a:ea typeface="Calibri"/>
              </a:rPr>
              <a:t>Project Humura  Neonatal Cry Acoustic Diagnostic Triage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50"/>
          <p:cNvSpPr/>
          <p:nvPr/>
        </p:nvSpPr>
        <p:spPr>
          <a:xfrm>
            <a:off x="0" y="4526280"/>
            <a:ext cx="1219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8fb9b9"/>
                </a:solidFill>
                <a:latin typeface="Calibri"/>
                <a:ea typeface="Calibri"/>
              </a:rPr>
              <a:t>Questions?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51"/>
          <p:cNvSpPr/>
          <p:nvPr/>
        </p:nvSpPr>
        <p:spPr>
          <a:xfrm>
            <a:off x="0" y="5257800"/>
            <a:ext cx="12191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600" spc="-1" strike="noStrike">
                <a:solidFill>
                  <a:srgbClr val="3fa9a4"/>
                </a:solidFill>
                <a:latin typeface="Cambria"/>
                <a:ea typeface="Cambria"/>
              </a:rPr>
              <a:t>“</a:t>
            </a:r>
            <a:r>
              <a:rPr b="1" i="1" lang="en-US" sz="1600" spc="-1" strike="noStrike">
                <a:solidFill>
                  <a:srgbClr val="3fa9a4"/>
                </a:solidFill>
                <a:latin typeface="Cambria"/>
                <a:ea typeface="Cambria"/>
              </a:rPr>
              <a:t>Listen to the cry. Save the life.”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52"/>
          <p:cNvSpPr/>
          <p:nvPr/>
        </p:nvSpPr>
        <p:spPr>
          <a:xfrm>
            <a:off x="0" y="5779080"/>
            <a:ext cx="1219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4e7677"/>
                </a:solidFill>
                <a:latin typeface="Calibri"/>
                <a:ea typeface="Calibri"/>
              </a:rPr>
              <a:t>Research / demonstration tool  clinical decision-support only, not a diagnostic device. All audio processed on-device.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53"/>
          <p:cNvSpPr/>
          <p:nvPr/>
        </p:nvSpPr>
        <p:spPr>
          <a:xfrm>
            <a:off x="0" y="6126480"/>
            <a:ext cx="12191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fa3a4"/>
                </a:solidFill>
                <a:latin typeface="Calibri"/>
                <a:ea typeface="Calibri"/>
              </a:rPr>
              <a:t>KAshoo   |   kash00m00n@outlook.com   |   @mohzato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2026-07-27T05:17:51Z</dcterms:created>
  <dc:creator>PptxGenJS</dc:creator>
  <dc:description/>
  <dc:language>en-US</dc:language>
  <cp:lastModifiedBy/>
  <dcterms:modified xsi:type="dcterms:W3CDTF">2026-07-27T08:47:23Z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